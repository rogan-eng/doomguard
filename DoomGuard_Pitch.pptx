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DoomGuard: a floating bubble that grows as you doomscroll. Every other tool guards the door; DoomGuard sits in the room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other tool guards the door: it acts before Instagram opens or on a clock. DoomGuard sits in the room with you. It counts reels, not minutes, and acts while you scroll.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spend about 141 minutes a day on social media. A 2025 meta-analysis of 98,299 people links heavy short-form video to weaker attention and more stress and anxiety. These are associations, not proven causation, so we claim behavioral friction, not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bubble starts small and blue, warms to amber past the limit, then grows red. At threshold plus 10 reels a 10-second break appears with a quote, and the count resets. one sec's own study shows door-guards work: users closed the app in 36% of attempts. We add friction inside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engine, three looks. Bubble, Reel and Depth restyle the overlay on Instagram, the break screen and the app. Switching is one tap on Home. The sensor is platform-specific, the pressure engine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on the phone. Set a low threshold such as 5 so the break fires after 15 reels. Scroll Reels and let the audience watch the bubble. Switch template to show the overlay and break restyle. Backup recording is ready if Instagram misbehaves.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6035040" y="914400"/>
            <a:ext cx="2743200" cy="2743200"/>
          </a:xfrm>
          <a:prstGeom prst="ellipse">
            <a:avLst/>
          </a:prstGeom>
          <a:solidFill>
            <a:srgbClr val="FF8F78">
              <a:alpha val="25000"/>
            </a:srgbClr>
          </a:solidFill>
          <a:ln w="12700">
            <a:solidFill>
              <a:srgbClr val="FF8F78"/>
            </a:solidFill>
            <a:prstDash val="solid"/>
          </a:ln>
        </p:spPr>
      </p:sp>
      <p:sp>
        <p:nvSpPr>
          <p:cNvPr id="4" name="Shape 1"/>
          <p:cNvSpPr/>
          <p:nvPr/>
        </p:nvSpPr>
        <p:spPr>
          <a:xfrm>
            <a:off x="6400800" y="1280160"/>
            <a:ext cx="2011680" cy="2011680"/>
          </a:xfrm>
          <a:prstGeom prst="ellipse">
            <a:avLst/>
          </a:prstGeom>
          <a:solidFill>
            <a:srgbClr val="FF8F78">
              <a:alpha val="55000"/>
            </a:srgbClr>
          </a:solidFill>
          <a:ln w="12700">
            <a:solidFill>
              <a:srgbClr val="FF8F78"/>
            </a:solidFill>
            <a:prstDash val="solid"/>
          </a:ln>
        </p:spPr>
      </p:sp>
      <p:sp>
        <p:nvSpPr>
          <p:cNvPr id="5" name="Shape 2"/>
          <p:cNvSpPr/>
          <p:nvPr/>
        </p:nvSpPr>
        <p:spPr>
          <a:xfrm>
            <a:off x="6766560" y="1645920"/>
            <a:ext cx="1280160" cy="1280160"/>
          </a:xfrm>
          <a:prstGeom prst="ellipse">
            <a:avLst/>
          </a:prstGeom>
          <a:solidFill>
            <a:srgbClr val="F2C879"/>
          </a:solidFill>
          <a:ln w="12700">
            <a:solidFill>
              <a:srgbClr val="F2C879"/>
            </a:solidFill>
            <a:prstDash val="solid"/>
          </a:ln>
        </p:spPr>
      </p:sp>
      <p:sp>
        <p:nvSpPr>
          <p:cNvPr id="6" name="Text 3"/>
          <p:cNvSpPr txBox="1"/>
          <p:nvPr/>
        </p:nvSpPr>
        <p:spPr>
          <a:xfrm>
            <a:off x="6766560" y="1645920"/>
            <a:ext cx="1280160" cy="1280160"/>
          </a:xfrm>
          <a:prstGeom prst="rect">
            <a:avLst/>
          </a:prstGeom>
          <a:noFill/>
          <a:ln/>
        </p:spPr>
        <p:txBody>
          <a:bodyPr wrap="square" lIns="0" tIns="0" rIns="0" bIns="0" rtlCol="0" anchor="ctr"/>
          <a:lstStyle/>
          <a:p>
            <a:pPr algn="ctr" indent="0" marL="0">
              <a:buNone/>
            </a:pPr>
            <a:r>
              <a:rPr lang="en-US" sz="4000" b="1" dirty="0">
                <a:solidFill>
                  <a:srgbClr val="0F1E3A"/>
                </a:solidFill>
                <a:latin typeface="Cambria" pitchFamily="34" charset="0"/>
                <a:ea typeface="Cambria" pitchFamily="34" charset="-122"/>
                <a:cs typeface="Cambria" pitchFamily="34" charset="-120"/>
              </a:rPr>
              <a:t>37</a:t>
            </a:r>
            <a:endParaRPr lang="en-US" sz="4000" dirty="0"/>
          </a:p>
        </p:txBody>
      </p:sp>
      <p:sp>
        <p:nvSpPr>
          <p:cNvPr id="7" name="Shape 4"/>
          <p:cNvSpPr/>
          <p:nvPr/>
        </p:nvSpPr>
        <p:spPr>
          <a:xfrm>
            <a:off x="5852160" y="3566160"/>
            <a:ext cx="457200" cy="457200"/>
          </a:xfrm>
          <a:prstGeom prst="ellipse">
            <a:avLst/>
          </a:prstGeom>
          <a:solidFill>
            <a:srgbClr val="5B8DEF"/>
          </a:solidFill>
          <a:ln w="12700">
            <a:solidFill>
              <a:srgbClr val="5B8DEF"/>
            </a:solidFill>
            <a:prstDash val="solid"/>
          </a:ln>
        </p:spPr>
      </p:sp>
      <p:sp>
        <p:nvSpPr>
          <p:cNvPr id="8" name="Shape 5"/>
          <p:cNvSpPr/>
          <p:nvPr/>
        </p:nvSpPr>
        <p:spPr>
          <a:xfrm>
            <a:off x="6492240" y="3840480"/>
            <a:ext cx="731520" cy="731520"/>
          </a:xfrm>
          <a:prstGeom prst="ellipse">
            <a:avLst/>
          </a:prstGeom>
          <a:solidFill>
            <a:srgbClr val="F2C879">
              <a:alpha val="90000"/>
            </a:srgbClr>
          </a:solidFill>
          <a:ln w="12700">
            <a:solidFill>
              <a:srgbClr val="F2C879"/>
            </a:solidFill>
            <a:prstDash val="solid"/>
          </a:ln>
        </p:spPr>
      </p:sp>
      <p:sp>
        <p:nvSpPr>
          <p:cNvPr id="9" name="Text 6"/>
          <p:cNvSpPr txBox="1"/>
          <p:nvPr/>
        </p:nvSpPr>
        <p:spPr>
          <a:xfrm>
            <a:off x="548640" y="1188720"/>
            <a:ext cx="5486400" cy="1005840"/>
          </a:xfrm>
          <a:prstGeom prst="rect">
            <a:avLst/>
          </a:prstGeom>
          <a:noFill/>
          <a:ln/>
        </p:spPr>
        <p:txBody>
          <a:bodyPr wrap="square" lIns="0" tIns="0" rIns="0" bIns="0" rtlCol="0" anchor="ctr"/>
          <a:lstStyle/>
          <a:p>
            <a:pPr indent="0" marL="0">
              <a:buNone/>
            </a:pPr>
            <a:r>
              <a:rPr lang="en-US" sz="5600" b="1" dirty="0">
                <a:solidFill>
                  <a:srgbClr val="F3EFE6"/>
                </a:solidFill>
                <a:latin typeface="Cambria" pitchFamily="34" charset="0"/>
                <a:ea typeface="Cambria" pitchFamily="34" charset="-122"/>
                <a:cs typeface="Cambria" pitchFamily="34" charset="-120"/>
              </a:rPr>
              <a:t>DoomGuard</a:t>
            </a:r>
            <a:endParaRPr lang="en-US" sz="5600" dirty="0"/>
          </a:p>
        </p:txBody>
      </p:sp>
      <p:sp>
        <p:nvSpPr>
          <p:cNvPr id="10" name="Text 7"/>
          <p:cNvSpPr txBox="1"/>
          <p:nvPr/>
        </p:nvSpPr>
        <p:spPr>
          <a:xfrm>
            <a:off x="548640" y="2377440"/>
            <a:ext cx="5120640" cy="1097280"/>
          </a:xfrm>
          <a:prstGeom prst="rect">
            <a:avLst/>
          </a:prstGeom>
          <a:noFill/>
          <a:ln/>
        </p:spPr>
        <p:txBody>
          <a:bodyPr wrap="square" lIns="0" tIns="0" rIns="0" bIns="0" rtlCol="0" anchor="ctr"/>
          <a:lstStyle/>
          <a:p>
            <a:pPr indent="0" marL="0">
              <a:buNone/>
            </a:pPr>
            <a:r>
              <a:rPr lang="en-US" sz="2200" i="1" dirty="0">
                <a:solidFill>
                  <a:srgbClr val="F2C879"/>
                </a:solidFill>
                <a:latin typeface="Cambria" pitchFamily="34" charset="0"/>
                <a:ea typeface="Cambria" pitchFamily="34" charset="-122"/>
                <a:cs typeface="Cambria" pitchFamily="34" charset="-120"/>
              </a:rPr>
              <a:t>Every other tool guards the door.</a:t>
            </a:r>
            <a:endParaRPr lang="en-US" sz="2200" dirty="0"/>
          </a:p>
          <a:p>
            <a:pPr indent="0" marL="0">
              <a:buNone/>
            </a:pPr>
            <a:r>
              <a:rPr lang="en-US" sz="2200" i="1" dirty="0">
                <a:solidFill>
                  <a:srgbClr val="F2C879"/>
                </a:solidFill>
                <a:latin typeface="Cambria" pitchFamily="34" charset="0"/>
                <a:ea typeface="Cambria" pitchFamily="34" charset="-122"/>
                <a:cs typeface="Cambria" pitchFamily="34" charset="-120"/>
              </a:rPr>
              <a:t>DoomGuard sits in the room with you.</a:t>
            </a:r>
            <a:endParaRPr lang="en-US" sz="2200" dirty="0"/>
          </a:p>
        </p:txBody>
      </p:sp>
      <p:sp>
        <p:nvSpPr>
          <p:cNvPr id="11" name="Text 8"/>
          <p:cNvSpPr txBox="1"/>
          <p:nvPr/>
        </p:nvSpPr>
        <p:spPr>
          <a:xfrm>
            <a:off x="548640" y="4023360"/>
            <a:ext cx="5120640" cy="365760"/>
          </a:xfrm>
          <a:prstGeom prst="rect">
            <a:avLst/>
          </a:prstGeom>
          <a:noFill/>
          <a:ln/>
        </p:spPr>
        <p:txBody>
          <a:bodyPr wrap="square" lIns="0" tIns="0" rIns="0" bIns="0" rtlCol="0" anchor="ctr"/>
          <a:lstStyle/>
          <a:p>
            <a:pPr indent="0" marL="0">
              <a:buNone/>
            </a:pPr>
            <a:r>
              <a:rPr lang="en-US" sz="1400" dirty="0">
                <a:solidFill>
                  <a:srgbClr val="C9CFDB"/>
                </a:solidFill>
                <a:latin typeface="Calibri" pitchFamily="34" charset="0"/>
                <a:ea typeface="Calibri" pitchFamily="34" charset="-122"/>
                <a:cs typeface="Calibri" pitchFamily="34" charset="-120"/>
              </a:rPr>
              <a:t>A floating bubble that grows as you doomscroll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400" b="1" dirty="0">
                <a:solidFill>
                  <a:srgbClr val="F3EFE6"/>
                </a:solidFill>
                <a:latin typeface="Cambria" pitchFamily="34" charset="0"/>
                <a:ea typeface="Cambria" pitchFamily="34" charset="-122"/>
                <a:cs typeface="Cambria" pitchFamily="34" charset="-120"/>
              </a:rPr>
              <a:t>Meet the team</a:t>
            </a:r>
            <a:endParaRPr lang="en-US" sz="3400" dirty="0"/>
          </a:p>
        </p:txBody>
      </p:sp>
      <p:sp>
        <p:nvSpPr>
          <p:cNvPr id="4" name="Shape 1"/>
          <p:cNvSpPr/>
          <p:nvPr/>
        </p:nvSpPr>
        <p:spPr>
          <a:xfrm>
            <a:off x="548640" y="1371600"/>
            <a:ext cx="2468880" cy="2560320"/>
          </a:xfrm>
          <a:prstGeom prst="roundRect">
            <a:avLst>
              <a:gd name="adj" fmla="val 9259"/>
            </a:avLst>
          </a:prstGeom>
          <a:solidFill>
            <a:srgbClr val="FFFFFF">
              <a:alpha val="10000"/>
            </a:srgbClr>
          </a:solidFill>
          <a:ln w="9525">
            <a:solidFill>
              <a:srgbClr val="FFFFFF">
                <a:alpha val="20000"/>
              </a:srgbClr>
            </a:solidFill>
            <a:prstDash val="solid"/>
          </a:ln>
          <a:effectLst>
            <a:outerShdw sx="100000" sy="100000" kx="0" ky="0" algn="bl" rotWithShape="0" blurRad="127000" dist="38100" dir="5400000">
              <a:srgbClr val="000000">
                <a:alpha val="25000"/>
              </a:srgbClr>
            </a:outerShdw>
          </a:effectLst>
        </p:spPr>
      </p:sp>
      <p:sp>
        <p:nvSpPr>
          <p:cNvPr id="5" name="Shape 2"/>
          <p:cNvSpPr/>
          <p:nvPr/>
        </p:nvSpPr>
        <p:spPr>
          <a:xfrm>
            <a:off x="1234440" y="1691640"/>
            <a:ext cx="1097280" cy="1097280"/>
          </a:xfrm>
          <a:prstGeom prst="ellipse">
            <a:avLst/>
          </a:prstGeom>
          <a:solidFill>
            <a:srgbClr val="F2C879"/>
          </a:solidFill>
          <a:ln w="12700">
            <a:solidFill>
              <a:srgbClr val="F2C879"/>
            </a:solidFill>
            <a:prstDash val="solid"/>
          </a:ln>
        </p:spPr>
      </p:sp>
      <p:sp>
        <p:nvSpPr>
          <p:cNvPr id="6" name="Text 3"/>
          <p:cNvSpPr txBox="1"/>
          <p:nvPr/>
        </p:nvSpPr>
        <p:spPr>
          <a:xfrm>
            <a:off x="1234440" y="1691640"/>
            <a:ext cx="1097280" cy="1097280"/>
          </a:xfrm>
          <a:prstGeom prst="rect">
            <a:avLst/>
          </a:prstGeom>
          <a:noFill/>
          <a:ln/>
        </p:spPr>
        <p:txBody>
          <a:bodyPr wrap="square" lIns="0" tIns="0" rIns="0" bIns="0" rtlCol="0" anchor="ctr"/>
          <a:lstStyle/>
          <a:p>
            <a:pPr algn="ctr" indent="0" marL="0">
              <a:buNone/>
            </a:pPr>
            <a:r>
              <a:rPr lang="en-US" sz="3000" b="1" dirty="0">
                <a:solidFill>
                  <a:srgbClr val="0F1E3A"/>
                </a:solidFill>
                <a:latin typeface="Cambria" pitchFamily="34" charset="0"/>
                <a:ea typeface="Cambria" pitchFamily="34" charset="-122"/>
                <a:cs typeface="Cambria" pitchFamily="34" charset="-120"/>
              </a:rPr>
              <a:t>MY</a:t>
            </a:r>
            <a:endParaRPr lang="en-US" sz="3000" dirty="0"/>
          </a:p>
        </p:txBody>
      </p:sp>
      <p:sp>
        <p:nvSpPr>
          <p:cNvPr id="7" name="Text 4"/>
          <p:cNvSpPr txBox="1"/>
          <p:nvPr/>
        </p:nvSpPr>
        <p:spPr>
          <a:xfrm>
            <a:off x="548640" y="3017520"/>
            <a:ext cx="2468880" cy="457200"/>
          </a:xfrm>
          <a:prstGeom prst="rect">
            <a:avLst/>
          </a:prstGeom>
          <a:noFill/>
          <a:ln/>
        </p:spPr>
        <p:txBody>
          <a:bodyPr wrap="square" lIns="0" tIns="0" rIns="0" bIns="0" rtlCol="0" anchor="ctr"/>
          <a:lstStyle/>
          <a:p>
            <a:pPr algn="ctr" indent="0" marL="0">
              <a:buNone/>
            </a:pPr>
            <a:r>
              <a:rPr lang="en-US" sz="2000" b="1" dirty="0">
                <a:solidFill>
                  <a:srgbClr val="F3EFE6"/>
                </a:solidFill>
                <a:latin typeface="Cambria" pitchFamily="34" charset="0"/>
                <a:ea typeface="Cambria" pitchFamily="34" charset="-122"/>
                <a:cs typeface="Cambria" pitchFamily="34" charset="-120"/>
              </a:rPr>
              <a:t>Mohammed Yaseen</a:t>
            </a:r>
            <a:endParaRPr lang="en-US" sz="2000" dirty="0"/>
          </a:p>
        </p:txBody>
      </p:sp>
      <p:sp>
        <p:nvSpPr>
          <p:cNvPr id="8" name="Text 5"/>
          <p:cNvSpPr txBox="1"/>
          <p:nvPr/>
        </p:nvSpPr>
        <p:spPr>
          <a:xfrm>
            <a:off x="548640" y="3474720"/>
            <a:ext cx="2468880" cy="320040"/>
          </a:xfrm>
          <a:prstGeom prst="rect">
            <a:avLst/>
          </a:prstGeom>
          <a:noFill/>
          <a:ln/>
        </p:spPr>
        <p:txBody>
          <a:bodyPr wrap="square" lIns="0" tIns="0" rIns="0" bIns="0" rtlCol="0" anchor="ctr"/>
          <a:lstStyle/>
          <a:p>
            <a:pPr algn="ctr" indent="0" marL="0">
              <a:buNone/>
            </a:pPr>
            <a:r>
              <a:rPr lang="en-US" sz="1400" dirty="0">
                <a:solidFill>
                  <a:srgbClr val="C9CFDB"/>
                </a:solidFill>
                <a:latin typeface="Calibri" pitchFamily="34" charset="0"/>
                <a:ea typeface="Calibri" pitchFamily="34" charset="-122"/>
                <a:cs typeface="Calibri" pitchFamily="34" charset="-120"/>
              </a:rPr>
              <a:t>Ysquaretechnology.com</a:t>
            </a:r>
            <a:endParaRPr lang="en-US" sz="1400" dirty="0"/>
          </a:p>
        </p:txBody>
      </p:sp>
      <p:sp>
        <p:nvSpPr>
          <p:cNvPr id="9" name="Shape 6"/>
          <p:cNvSpPr/>
          <p:nvPr/>
        </p:nvSpPr>
        <p:spPr>
          <a:xfrm>
            <a:off x="3291840" y="1371600"/>
            <a:ext cx="2468880" cy="2560320"/>
          </a:xfrm>
          <a:prstGeom prst="roundRect">
            <a:avLst>
              <a:gd name="adj" fmla="val 9259"/>
            </a:avLst>
          </a:prstGeom>
          <a:solidFill>
            <a:srgbClr val="FFFFFF">
              <a:alpha val="10000"/>
            </a:srgbClr>
          </a:solidFill>
          <a:ln w="9525">
            <a:solidFill>
              <a:srgbClr val="FFFFFF">
                <a:alpha val="20000"/>
              </a:srgbClr>
            </a:solidFill>
            <a:prstDash val="solid"/>
          </a:ln>
          <a:effectLst>
            <a:outerShdw sx="100000" sy="100000" kx="0" ky="0" algn="bl" rotWithShape="0" blurRad="127000" dist="38100" dir="5400000">
              <a:srgbClr val="000000">
                <a:alpha val="25000"/>
              </a:srgbClr>
            </a:outerShdw>
          </a:effectLst>
        </p:spPr>
      </p:sp>
      <p:sp>
        <p:nvSpPr>
          <p:cNvPr id="10" name="Shape 7"/>
          <p:cNvSpPr/>
          <p:nvPr/>
        </p:nvSpPr>
        <p:spPr>
          <a:xfrm>
            <a:off x="3977640" y="1691640"/>
            <a:ext cx="1097280" cy="1097280"/>
          </a:xfrm>
          <a:prstGeom prst="ellipse">
            <a:avLst/>
          </a:prstGeom>
          <a:solidFill>
            <a:srgbClr val="FF8F78"/>
          </a:solidFill>
          <a:ln w="12700">
            <a:solidFill>
              <a:srgbClr val="FF8F78"/>
            </a:solidFill>
            <a:prstDash val="solid"/>
          </a:ln>
        </p:spPr>
      </p:sp>
      <p:sp>
        <p:nvSpPr>
          <p:cNvPr id="11" name="Text 8"/>
          <p:cNvSpPr txBox="1"/>
          <p:nvPr/>
        </p:nvSpPr>
        <p:spPr>
          <a:xfrm>
            <a:off x="3977640" y="1691640"/>
            <a:ext cx="1097280" cy="1097280"/>
          </a:xfrm>
          <a:prstGeom prst="rect">
            <a:avLst/>
          </a:prstGeom>
          <a:noFill/>
          <a:ln/>
        </p:spPr>
        <p:txBody>
          <a:bodyPr wrap="square" lIns="0" tIns="0" rIns="0" bIns="0" rtlCol="0" anchor="ctr"/>
          <a:lstStyle/>
          <a:p>
            <a:pPr algn="ctr" indent="0" marL="0">
              <a:buNone/>
            </a:pPr>
            <a:r>
              <a:rPr lang="en-US" sz="3000" b="1" dirty="0">
                <a:solidFill>
                  <a:srgbClr val="0F1E3A"/>
                </a:solidFill>
                <a:latin typeface="Cambria" pitchFamily="34" charset="0"/>
                <a:ea typeface="Cambria" pitchFamily="34" charset="-122"/>
                <a:cs typeface="Cambria" pitchFamily="34" charset="-120"/>
              </a:rPr>
              <a:t>SS</a:t>
            </a:r>
            <a:endParaRPr lang="en-US" sz="3000" dirty="0"/>
          </a:p>
        </p:txBody>
      </p:sp>
      <p:sp>
        <p:nvSpPr>
          <p:cNvPr id="12" name="Text 9"/>
          <p:cNvSpPr txBox="1"/>
          <p:nvPr/>
        </p:nvSpPr>
        <p:spPr>
          <a:xfrm>
            <a:off x="3291840" y="3017520"/>
            <a:ext cx="2468880" cy="457200"/>
          </a:xfrm>
          <a:prstGeom prst="rect">
            <a:avLst/>
          </a:prstGeom>
          <a:noFill/>
          <a:ln/>
        </p:spPr>
        <p:txBody>
          <a:bodyPr wrap="square" lIns="0" tIns="0" rIns="0" bIns="0" rtlCol="0" anchor="ctr"/>
          <a:lstStyle/>
          <a:p>
            <a:pPr algn="ctr" indent="0" marL="0">
              <a:buNone/>
            </a:pPr>
            <a:r>
              <a:rPr lang="en-US" sz="2000" b="1" dirty="0">
                <a:solidFill>
                  <a:srgbClr val="F3EFE6"/>
                </a:solidFill>
                <a:latin typeface="Cambria" pitchFamily="34" charset="0"/>
                <a:ea typeface="Cambria" pitchFamily="34" charset="-122"/>
                <a:cs typeface="Cambria" pitchFamily="34" charset="-120"/>
              </a:rPr>
              <a:t>Siva Sugan</a:t>
            </a:r>
            <a:endParaRPr lang="en-US" sz="2000" dirty="0"/>
          </a:p>
        </p:txBody>
      </p:sp>
      <p:sp>
        <p:nvSpPr>
          <p:cNvPr id="13" name="Text 10"/>
          <p:cNvSpPr txBox="1"/>
          <p:nvPr/>
        </p:nvSpPr>
        <p:spPr>
          <a:xfrm>
            <a:off x="3291840" y="3474720"/>
            <a:ext cx="2468880" cy="320040"/>
          </a:xfrm>
          <a:prstGeom prst="rect">
            <a:avLst/>
          </a:prstGeom>
          <a:noFill/>
          <a:ln/>
        </p:spPr>
        <p:txBody>
          <a:bodyPr wrap="square" lIns="0" tIns="0" rIns="0" bIns="0" rtlCol="0" anchor="ctr"/>
          <a:lstStyle/>
          <a:p>
            <a:pPr algn="ctr" indent="0" marL="0">
              <a:buNone/>
            </a:pPr>
            <a:r>
              <a:rPr lang="en-US" sz="1400" dirty="0">
                <a:solidFill>
                  <a:srgbClr val="C9CFDB"/>
                </a:solidFill>
                <a:latin typeface="Calibri" pitchFamily="34" charset="0"/>
                <a:ea typeface="Calibri" pitchFamily="34" charset="-122"/>
                <a:cs typeface="Calibri" pitchFamily="34" charset="-120"/>
              </a:rPr>
              <a:t>Ysquaretechnology.com</a:t>
            </a:r>
            <a:endParaRPr lang="en-US" sz="1400" dirty="0"/>
          </a:p>
        </p:txBody>
      </p:sp>
      <p:sp>
        <p:nvSpPr>
          <p:cNvPr id="14" name="Shape 11"/>
          <p:cNvSpPr/>
          <p:nvPr/>
        </p:nvSpPr>
        <p:spPr>
          <a:xfrm>
            <a:off x="6035040" y="1371600"/>
            <a:ext cx="2468880" cy="2560320"/>
          </a:xfrm>
          <a:prstGeom prst="roundRect">
            <a:avLst>
              <a:gd name="adj" fmla="val 9259"/>
            </a:avLst>
          </a:prstGeom>
          <a:solidFill>
            <a:srgbClr val="FFFFFF">
              <a:alpha val="10000"/>
            </a:srgbClr>
          </a:solidFill>
          <a:ln w="9525">
            <a:solidFill>
              <a:srgbClr val="FFFFFF">
                <a:alpha val="20000"/>
              </a:srgbClr>
            </a:solidFill>
            <a:prstDash val="solid"/>
          </a:ln>
          <a:effectLst>
            <a:outerShdw sx="100000" sy="100000" kx="0" ky="0" algn="bl" rotWithShape="0" blurRad="127000" dist="38100" dir="5400000">
              <a:srgbClr val="000000">
                <a:alpha val="25000"/>
              </a:srgbClr>
            </a:outerShdw>
          </a:effectLst>
        </p:spPr>
      </p:sp>
      <p:sp>
        <p:nvSpPr>
          <p:cNvPr id="15" name="Shape 12"/>
          <p:cNvSpPr/>
          <p:nvPr/>
        </p:nvSpPr>
        <p:spPr>
          <a:xfrm>
            <a:off x="6720840" y="1691640"/>
            <a:ext cx="1097280" cy="1097280"/>
          </a:xfrm>
          <a:prstGeom prst="ellipse">
            <a:avLst/>
          </a:prstGeom>
          <a:solidFill>
            <a:srgbClr val="5B8DEF"/>
          </a:solidFill>
          <a:ln w="12700">
            <a:solidFill>
              <a:srgbClr val="5B8DEF"/>
            </a:solidFill>
            <a:prstDash val="solid"/>
          </a:ln>
        </p:spPr>
      </p:sp>
      <p:sp>
        <p:nvSpPr>
          <p:cNvPr id="16" name="Text 13"/>
          <p:cNvSpPr txBox="1"/>
          <p:nvPr/>
        </p:nvSpPr>
        <p:spPr>
          <a:xfrm>
            <a:off x="6720840" y="1691640"/>
            <a:ext cx="1097280" cy="1097280"/>
          </a:xfrm>
          <a:prstGeom prst="rect">
            <a:avLst/>
          </a:prstGeom>
          <a:noFill/>
          <a:ln/>
        </p:spPr>
        <p:txBody>
          <a:bodyPr wrap="square" lIns="0" tIns="0" rIns="0" bIns="0" rtlCol="0" anchor="ctr"/>
          <a:lstStyle/>
          <a:p>
            <a:pPr algn="ctr" indent="0" marL="0">
              <a:buNone/>
            </a:pPr>
            <a:r>
              <a:rPr lang="en-US" sz="3000" b="1" dirty="0">
                <a:solidFill>
                  <a:srgbClr val="0F1E3A"/>
                </a:solidFill>
                <a:latin typeface="Cambria" pitchFamily="34" charset="0"/>
                <a:ea typeface="Cambria" pitchFamily="34" charset="-122"/>
                <a:cs typeface="Cambria" pitchFamily="34" charset="-120"/>
              </a:rPr>
              <a:t>RA</a:t>
            </a:r>
            <a:endParaRPr lang="en-US" sz="3000" dirty="0"/>
          </a:p>
        </p:txBody>
      </p:sp>
      <p:sp>
        <p:nvSpPr>
          <p:cNvPr id="17" name="Text 14"/>
          <p:cNvSpPr txBox="1"/>
          <p:nvPr/>
        </p:nvSpPr>
        <p:spPr>
          <a:xfrm>
            <a:off x="6035040" y="3017520"/>
            <a:ext cx="2468880" cy="457200"/>
          </a:xfrm>
          <a:prstGeom prst="rect">
            <a:avLst/>
          </a:prstGeom>
          <a:noFill/>
          <a:ln/>
        </p:spPr>
        <p:txBody>
          <a:bodyPr wrap="square" lIns="0" tIns="0" rIns="0" bIns="0" rtlCol="0" anchor="ctr"/>
          <a:lstStyle/>
          <a:p>
            <a:pPr algn="ctr" indent="0" marL="0">
              <a:buNone/>
            </a:pPr>
            <a:r>
              <a:rPr lang="en-US" sz="2000" b="1" dirty="0">
                <a:solidFill>
                  <a:srgbClr val="F3EFE6"/>
                </a:solidFill>
                <a:latin typeface="Cambria" pitchFamily="34" charset="0"/>
                <a:ea typeface="Cambria" pitchFamily="34" charset="-122"/>
                <a:cs typeface="Cambria" pitchFamily="34" charset="-120"/>
              </a:rPr>
              <a:t>Rogan Antony</a:t>
            </a:r>
            <a:endParaRPr lang="en-US" sz="2000" dirty="0"/>
          </a:p>
        </p:txBody>
      </p:sp>
      <p:sp>
        <p:nvSpPr>
          <p:cNvPr id="18" name="Text 15"/>
          <p:cNvSpPr txBox="1"/>
          <p:nvPr/>
        </p:nvSpPr>
        <p:spPr>
          <a:xfrm>
            <a:off x="6035040" y="3474720"/>
            <a:ext cx="2468880" cy="320040"/>
          </a:xfrm>
          <a:prstGeom prst="rect">
            <a:avLst/>
          </a:prstGeom>
          <a:noFill/>
          <a:ln/>
        </p:spPr>
        <p:txBody>
          <a:bodyPr wrap="square" lIns="0" tIns="0" rIns="0" bIns="0" rtlCol="0" anchor="ctr"/>
          <a:lstStyle/>
          <a:p>
            <a:pPr algn="ctr" indent="0" marL="0">
              <a:buNone/>
            </a:pPr>
            <a:r>
              <a:rPr lang="en-US" sz="1400" dirty="0">
                <a:solidFill>
                  <a:srgbClr val="C9CFDB"/>
                </a:solidFill>
                <a:latin typeface="Calibri" pitchFamily="34" charset="0"/>
                <a:ea typeface="Calibri" pitchFamily="34" charset="-122"/>
                <a:cs typeface="Calibri" pitchFamily="34" charset="-120"/>
              </a:rPr>
              <a:t>Ysquaretechnology.com</a:t>
            </a:r>
            <a:endParaRPr lang="en-US" sz="1400" dirty="0"/>
          </a:p>
        </p:txBody>
      </p:sp>
      <p:sp>
        <p:nvSpPr>
          <p:cNvPr id="19" name="Text 16"/>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400" dirty="0">
                <a:solidFill>
                  <a:srgbClr val="C9CFDB"/>
                </a:solidFill>
                <a:latin typeface="Calibri" pitchFamily="34" charset="0"/>
                <a:ea typeface="Calibri" pitchFamily="34" charset="-122"/>
                <a:cs typeface="Calibri" pitchFamily="34" charset="-120"/>
              </a:rPr>
              <a:t>Built in a 2-hour mental-health vibe-coding sprint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400" b="1" dirty="0">
                <a:solidFill>
                  <a:srgbClr val="F3EFE6"/>
                </a:solidFill>
                <a:latin typeface="Cambria" pitchFamily="34" charset="0"/>
                <a:ea typeface="Cambria" pitchFamily="34" charset="-122"/>
                <a:cs typeface="Cambria" pitchFamily="34" charset="-120"/>
              </a:rPr>
              <a:t>The infinite scroll is costing us</a:t>
            </a:r>
            <a:endParaRPr lang="en-US" sz="3400" dirty="0"/>
          </a:p>
        </p:txBody>
      </p:sp>
      <p:sp>
        <p:nvSpPr>
          <p:cNvPr id="4" name="Shape 1"/>
          <p:cNvSpPr/>
          <p:nvPr/>
        </p:nvSpPr>
        <p:spPr>
          <a:xfrm>
            <a:off x="548640" y="1280160"/>
            <a:ext cx="2560320" cy="2011680"/>
          </a:xfrm>
          <a:prstGeom prst="roundRect">
            <a:avLst>
              <a:gd name="adj" fmla="val 11364"/>
            </a:avLst>
          </a:prstGeom>
          <a:solidFill>
            <a:srgbClr val="FFFFFF">
              <a:alpha val="10000"/>
            </a:srgbClr>
          </a:solidFill>
          <a:ln w="9525">
            <a:solidFill>
              <a:srgbClr val="FFFFFF">
                <a:alpha val="20000"/>
              </a:srgbClr>
            </a:solidFill>
            <a:prstDash val="solid"/>
          </a:ln>
          <a:effectLst>
            <a:outerShdw sx="100000" sy="100000" kx="0" ky="0" algn="bl" rotWithShape="0" blurRad="127000" dist="38100" dir="5400000">
              <a:srgbClr val="000000">
                <a:alpha val="25000"/>
              </a:srgbClr>
            </a:outerShdw>
          </a:effectLst>
        </p:spPr>
      </p:sp>
      <p:sp>
        <p:nvSpPr>
          <p:cNvPr id="5" name="Text 2"/>
          <p:cNvSpPr txBox="1"/>
          <p:nvPr/>
        </p:nvSpPr>
        <p:spPr>
          <a:xfrm>
            <a:off x="777240" y="1417320"/>
            <a:ext cx="2103120" cy="822960"/>
          </a:xfrm>
          <a:prstGeom prst="rect">
            <a:avLst/>
          </a:prstGeom>
          <a:noFill/>
          <a:ln/>
        </p:spPr>
        <p:txBody>
          <a:bodyPr wrap="square" lIns="0" tIns="0" rIns="0" bIns="0" rtlCol="0" anchor="ctr"/>
          <a:lstStyle/>
          <a:p>
            <a:pPr indent="0" marL="0">
              <a:buNone/>
            </a:pPr>
            <a:r>
              <a:rPr lang="en-US" sz="3800" b="1" dirty="0">
                <a:solidFill>
                  <a:srgbClr val="F2C879"/>
                </a:solidFill>
                <a:latin typeface="Cambria" pitchFamily="34" charset="0"/>
                <a:ea typeface="Cambria" pitchFamily="34" charset="-122"/>
                <a:cs typeface="Cambria" pitchFamily="34" charset="-120"/>
              </a:rPr>
              <a:t>141 min</a:t>
            </a:r>
            <a:endParaRPr lang="en-US" sz="3800" dirty="0"/>
          </a:p>
        </p:txBody>
      </p:sp>
      <p:sp>
        <p:nvSpPr>
          <p:cNvPr id="6" name="Text 3"/>
          <p:cNvSpPr txBox="1"/>
          <p:nvPr/>
        </p:nvSpPr>
        <p:spPr>
          <a:xfrm>
            <a:off x="777240" y="2286000"/>
            <a:ext cx="2103120" cy="914400"/>
          </a:xfrm>
          <a:prstGeom prst="rect">
            <a:avLst/>
          </a:prstGeom>
          <a:noFill/>
          <a:ln/>
        </p:spPr>
        <p:txBody>
          <a:bodyPr wrap="square" lIns="0" tIns="0" rIns="0" bIns="0" rtlCol="0" anchor="t"/>
          <a:lstStyle/>
          <a:p>
            <a:pPr indent="0" marL="0">
              <a:buNone/>
            </a:pPr>
            <a:r>
              <a:rPr lang="en-US" sz="1400" dirty="0">
                <a:solidFill>
                  <a:srgbClr val="C9CFDB"/>
                </a:solidFill>
                <a:latin typeface="Calibri" pitchFamily="34" charset="0"/>
                <a:ea typeface="Calibri" pitchFamily="34" charset="-122"/>
                <a:cs typeface="Calibri" pitchFamily="34" charset="-120"/>
              </a:rPr>
              <a:t>average time per day on social media worldwide, Feb 2025</a:t>
            </a:r>
            <a:endParaRPr lang="en-US" sz="1400" dirty="0"/>
          </a:p>
        </p:txBody>
      </p:sp>
      <p:sp>
        <p:nvSpPr>
          <p:cNvPr id="7" name="Shape 4"/>
          <p:cNvSpPr/>
          <p:nvPr/>
        </p:nvSpPr>
        <p:spPr>
          <a:xfrm>
            <a:off x="3291840" y="1280160"/>
            <a:ext cx="2560320" cy="2011680"/>
          </a:xfrm>
          <a:prstGeom prst="roundRect">
            <a:avLst>
              <a:gd name="adj" fmla="val 11364"/>
            </a:avLst>
          </a:prstGeom>
          <a:solidFill>
            <a:srgbClr val="FFFFFF">
              <a:alpha val="10000"/>
            </a:srgbClr>
          </a:solidFill>
          <a:ln w="9525">
            <a:solidFill>
              <a:srgbClr val="FFFFFF">
                <a:alpha val="20000"/>
              </a:srgbClr>
            </a:solidFill>
            <a:prstDash val="solid"/>
          </a:ln>
          <a:effectLst>
            <a:outerShdw sx="100000" sy="100000" kx="0" ky="0" algn="bl" rotWithShape="0" blurRad="127000" dist="38100" dir="5400000">
              <a:srgbClr val="000000">
                <a:alpha val="25000"/>
              </a:srgbClr>
            </a:outerShdw>
          </a:effectLst>
        </p:spPr>
      </p:sp>
      <p:sp>
        <p:nvSpPr>
          <p:cNvPr id="8" name="Text 5"/>
          <p:cNvSpPr txBox="1"/>
          <p:nvPr/>
        </p:nvSpPr>
        <p:spPr>
          <a:xfrm>
            <a:off x="3520440" y="1417320"/>
            <a:ext cx="2103120" cy="822960"/>
          </a:xfrm>
          <a:prstGeom prst="rect">
            <a:avLst/>
          </a:prstGeom>
          <a:noFill/>
          <a:ln/>
        </p:spPr>
        <p:txBody>
          <a:bodyPr wrap="square" lIns="0" tIns="0" rIns="0" bIns="0" rtlCol="0" anchor="ctr"/>
          <a:lstStyle/>
          <a:p>
            <a:pPr indent="0" marL="0">
              <a:buNone/>
            </a:pPr>
            <a:r>
              <a:rPr lang="en-US" sz="3800" b="1" dirty="0">
                <a:solidFill>
                  <a:srgbClr val="FF8F78"/>
                </a:solidFill>
                <a:latin typeface="Cambria" pitchFamily="34" charset="0"/>
                <a:ea typeface="Cambria" pitchFamily="34" charset="-122"/>
                <a:cs typeface="Cambria" pitchFamily="34" charset="-120"/>
              </a:rPr>
              <a:t>~3 days</a:t>
            </a:r>
            <a:endParaRPr lang="en-US" sz="3800" dirty="0"/>
          </a:p>
        </p:txBody>
      </p:sp>
      <p:sp>
        <p:nvSpPr>
          <p:cNvPr id="9" name="Text 6"/>
          <p:cNvSpPr txBox="1"/>
          <p:nvPr/>
        </p:nvSpPr>
        <p:spPr>
          <a:xfrm>
            <a:off x="3520440" y="2286000"/>
            <a:ext cx="2103120" cy="914400"/>
          </a:xfrm>
          <a:prstGeom prst="rect">
            <a:avLst/>
          </a:prstGeom>
          <a:noFill/>
          <a:ln/>
        </p:spPr>
        <p:txBody>
          <a:bodyPr wrap="square" lIns="0" tIns="0" rIns="0" bIns="0" rtlCol="0" anchor="t"/>
          <a:lstStyle/>
          <a:p>
            <a:pPr indent="0" marL="0">
              <a:buNone/>
            </a:pPr>
            <a:r>
              <a:rPr lang="en-US" sz="1400" dirty="0">
                <a:solidFill>
                  <a:srgbClr val="C9CFDB"/>
                </a:solidFill>
                <a:latin typeface="Calibri" pitchFamily="34" charset="0"/>
                <a:ea typeface="Calibri" pitchFamily="34" charset="-122"/>
                <a:cs typeface="Calibri" pitchFamily="34" charset="-120"/>
              </a:rPr>
              <a:t>per month people say they "lose" to scrolling (self-reported survey)</a:t>
            </a:r>
            <a:endParaRPr lang="en-US" sz="1400" dirty="0"/>
          </a:p>
        </p:txBody>
      </p:sp>
      <p:sp>
        <p:nvSpPr>
          <p:cNvPr id="10" name="Shape 7"/>
          <p:cNvSpPr/>
          <p:nvPr/>
        </p:nvSpPr>
        <p:spPr>
          <a:xfrm>
            <a:off x="6035040" y="1280160"/>
            <a:ext cx="2560320" cy="2011680"/>
          </a:xfrm>
          <a:prstGeom prst="roundRect">
            <a:avLst>
              <a:gd name="adj" fmla="val 11364"/>
            </a:avLst>
          </a:prstGeom>
          <a:solidFill>
            <a:srgbClr val="FFFFFF">
              <a:alpha val="10000"/>
            </a:srgbClr>
          </a:solidFill>
          <a:ln w="9525">
            <a:solidFill>
              <a:srgbClr val="FFFFFF">
                <a:alpha val="20000"/>
              </a:srgbClr>
            </a:solidFill>
            <a:prstDash val="solid"/>
          </a:ln>
          <a:effectLst>
            <a:outerShdw sx="100000" sy="100000" kx="0" ky="0" algn="bl" rotWithShape="0" blurRad="127000" dist="38100" dir="5400000">
              <a:srgbClr val="000000">
                <a:alpha val="25000"/>
              </a:srgbClr>
            </a:outerShdw>
          </a:effectLst>
        </p:spPr>
      </p:sp>
      <p:sp>
        <p:nvSpPr>
          <p:cNvPr id="11" name="Text 8"/>
          <p:cNvSpPr txBox="1"/>
          <p:nvPr/>
        </p:nvSpPr>
        <p:spPr>
          <a:xfrm>
            <a:off x="6263640" y="1417320"/>
            <a:ext cx="2103120" cy="822960"/>
          </a:xfrm>
          <a:prstGeom prst="rect">
            <a:avLst/>
          </a:prstGeom>
          <a:noFill/>
          <a:ln/>
        </p:spPr>
        <p:txBody>
          <a:bodyPr wrap="square" lIns="0" tIns="0" rIns="0" bIns="0" rtlCol="0" anchor="ctr"/>
          <a:lstStyle/>
          <a:p>
            <a:pPr indent="0" marL="0">
              <a:buNone/>
            </a:pPr>
            <a:r>
              <a:rPr lang="en-US" sz="3800" b="1" dirty="0">
                <a:solidFill>
                  <a:srgbClr val="5B8DEF"/>
                </a:solidFill>
                <a:latin typeface="Cambria" pitchFamily="34" charset="0"/>
                <a:ea typeface="Cambria" pitchFamily="34" charset="-122"/>
                <a:cs typeface="Cambria" pitchFamily="34" charset="-120"/>
              </a:rPr>
              <a:t>98,299</a:t>
            </a:r>
            <a:endParaRPr lang="en-US" sz="3800" dirty="0"/>
          </a:p>
        </p:txBody>
      </p:sp>
      <p:sp>
        <p:nvSpPr>
          <p:cNvPr id="12" name="Text 9"/>
          <p:cNvSpPr txBox="1"/>
          <p:nvPr/>
        </p:nvSpPr>
        <p:spPr>
          <a:xfrm>
            <a:off x="6263640" y="2286000"/>
            <a:ext cx="2103120" cy="914400"/>
          </a:xfrm>
          <a:prstGeom prst="rect">
            <a:avLst/>
          </a:prstGeom>
          <a:noFill/>
          <a:ln/>
        </p:spPr>
        <p:txBody>
          <a:bodyPr wrap="square" lIns="0" tIns="0" rIns="0" bIns="0" rtlCol="0" anchor="t"/>
          <a:lstStyle/>
          <a:p>
            <a:pPr indent="0" marL="0">
              <a:buNone/>
            </a:pPr>
            <a:r>
              <a:rPr lang="en-US" sz="1400" dirty="0">
                <a:solidFill>
                  <a:srgbClr val="C9CFDB"/>
                </a:solidFill>
                <a:latin typeface="Calibri" pitchFamily="34" charset="0"/>
                <a:ea typeface="Calibri" pitchFamily="34" charset="-122"/>
                <a:cs typeface="Calibri" pitchFamily="34" charset="-120"/>
              </a:rPr>
              <a:t>people across 71 studies in a 2025 meta-analysis of short-form video</a:t>
            </a:r>
            <a:endParaRPr lang="en-US" sz="1400" dirty="0"/>
          </a:p>
        </p:txBody>
      </p:sp>
      <p:sp>
        <p:nvSpPr>
          <p:cNvPr id="13" name="Text 10"/>
          <p:cNvSpPr txBox="1"/>
          <p:nvPr/>
        </p:nvSpPr>
        <p:spPr>
          <a:xfrm>
            <a:off x="548640" y="3520440"/>
            <a:ext cx="8046720" cy="914400"/>
          </a:xfrm>
          <a:prstGeom prst="rect">
            <a:avLst/>
          </a:prstGeom>
          <a:noFill/>
          <a:ln/>
        </p:spPr>
        <p:txBody>
          <a:bodyPr wrap="square" lIns="0" tIns="0" rIns="0" bIns="0" rtlCol="0" anchor="ctr"/>
          <a:lstStyle/>
          <a:p>
            <a:pPr indent="0" marL="0">
              <a:spcAft>
                <a:spcPts val="400"/>
              </a:spcAft>
              <a:buNone/>
            </a:pPr>
            <a:r>
              <a:rPr lang="en-US" sz="1500" b="1" dirty="0">
                <a:solidFill>
                  <a:srgbClr val="F3EFE6"/>
                </a:solidFill>
                <a:latin typeface="Calibri" pitchFamily="34" charset="0"/>
                <a:ea typeface="Calibri" pitchFamily="34" charset="-122"/>
                <a:cs typeface="Calibri" pitchFamily="34" charset="-120"/>
              </a:rPr>
              <a:t>What the research links to heavy short-form use</a:t>
            </a:r>
            <a:endParaRPr lang="en-US" sz="1500" dirty="0"/>
          </a:p>
          <a:p>
            <a:pPr marL="342900" indent="-342900">
              <a:spcAft>
                <a:spcPts val="400"/>
              </a:spcAft>
              <a:buSzPct val="100000"/>
              <a:buChar char="•"/>
            </a:pPr>
            <a:r>
              <a:rPr lang="en-US" sz="1500" dirty="0">
                <a:solidFill>
                  <a:srgbClr val="F3EFE6"/>
                </a:solidFill>
                <a:latin typeface="Calibri" pitchFamily="34" charset="0"/>
                <a:ea typeface="Calibri" pitchFamily="34" charset="-122"/>
                <a:cs typeface="Calibri" pitchFamily="34" charset="-120"/>
              </a:rPr>
              <a:t>Weaker attention (r = -.38) and inhibitory control (r = -.41)</a:t>
            </a:r>
            <a:endParaRPr lang="en-US" sz="1500" dirty="0"/>
          </a:p>
          <a:p>
            <a:pPr marL="342900" indent="-342900">
              <a:spcAft>
                <a:spcPts val="400"/>
              </a:spcAft>
              <a:buSzPct val="100000"/>
              <a:buChar char="•"/>
            </a:pPr>
            <a:r>
              <a:rPr lang="en-US" sz="1500" dirty="0">
                <a:solidFill>
                  <a:srgbClr val="F3EFE6"/>
                </a:solidFill>
                <a:latin typeface="Calibri" pitchFamily="34" charset="0"/>
                <a:ea typeface="Calibri" pitchFamily="34" charset="-122"/>
                <a:cs typeface="Calibri" pitchFamily="34" charset="-120"/>
              </a:rPr>
              <a:t>Higher stress (r = -.34) and anxiety (r = -.33)</a:t>
            </a:r>
            <a:endParaRPr lang="en-US" sz="1500" dirty="0"/>
          </a:p>
        </p:txBody>
      </p:sp>
      <p:sp>
        <p:nvSpPr>
          <p:cNvPr id="14" name="Text 11"/>
          <p:cNvSpPr txBox="1"/>
          <p:nvPr/>
        </p:nvSpPr>
        <p:spPr>
          <a:xfrm>
            <a:off x="548640" y="4526280"/>
            <a:ext cx="8046720" cy="411480"/>
          </a:xfrm>
          <a:prstGeom prst="rect">
            <a:avLst/>
          </a:prstGeom>
          <a:noFill/>
          <a:ln/>
        </p:spPr>
        <p:txBody>
          <a:bodyPr wrap="square" lIns="0" tIns="0" rIns="0" bIns="0" rtlCol="0" anchor="ctr"/>
          <a:lstStyle/>
          <a:p>
            <a:pPr indent="0" marL="0">
              <a:buNone/>
            </a:pPr>
            <a:r>
              <a:rPr lang="en-US" sz="1000" dirty="0">
                <a:solidFill>
                  <a:srgbClr val="C9CFDB"/>
                </a:solidFill>
                <a:latin typeface="Calibri" pitchFamily="34" charset="0"/>
                <a:ea typeface="Calibri" pitchFamily="34" charset="-122"/>
                <a:cs typeface="Calibri" pitchFamily="34" charset="-120"/>
              </a:rPr>
              <a:t>Associations, not proven causation: most included studies were cross-sectional. Sources: Psychological Bulletin 2025 (Nguyen et al.); Statista/DataReportal 2025; Talker Research 2024.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400" b="1" dirty="0">
                <a:solidFill>
                  <a:srgbClr val="F3EFE6"/>
                </a:solidFill>
                <a:latin typeface="Cambria" pitchFamily="34" charset="0"/>
                <a:ea typeface="Cambria" pitchFamily="34" charset="-122"/>
                <a:cs typeface="Cambria" pitchFamily="34" charset="-120"/>
              </a:rPr>
              <a:t>DoomGuard works inside the session</a:t>
            </a:r>
            <a:endParaRPr lang="en-US" sz="3400" dirty="0"/>
          </a:p>
        </p:txBody>
      </p:sp>
      <p:sp>
        <p:nvSpPr>
          <p:cNvPr id="4" name="Shape 1"/>
          <p:cNvSpPr/>
          <p:nvPr/>
        </p:nvSpPr>
        <p:spPr>
          <a:xfrm>
            <a:off x="777240" y="1417320"/>
            <a:ext cx="457200" cy="457200"/>
          </a:xfrm>
          <a:prstGeom prst="ellipse">
            <a:avLst/>
          </a:prstGeom>
          <a:solidFill>
            <a:srgbClr val="5B8DEF"/>
          </a:solidFill>
          <a:ln w="12700">
            <a:solidFill>
              <a:srgbClr val="5B8DEF"/>
            </a:solidFill>
            <a:prstDash val="solid"/>
          </a:ln>
        </p:spPr>
      </p:sp>
      <p:sp>
        <p:nvSpPr>
          <p:cNvPr id="5" name="Text 2"/>
          <p:cNvSpPr txBox="1"/>
          <p:nvPr/>
        </p:nvSpPr>
        <p:spPr>
          <a:xfrm>
            <a:off x="1691640" y="1234440"/>
            <a:ext cx="2377440" cy="365760"/>
          </a:xfrm>
          <a:prstGeom prst="rect">
            <a:avLst/>
          </a:prstGeom>
          <a:noFill/>
          <a:ln/>
        </p:spPr>
        <p:txBody>
          <a:bodyPr wrap="square" lIns="0" tIns="0" rIns="0" bIns="0" rtlCol="0" anchor="ctr"/>
          <a:lstStyle/>
          <a:p>
            <a:pPr indent="0" marL="0">
              <a:buNone/>
            </a:pPr>
            <a:r>
              <a:rPr lang="en-US" sz="1800" b="1" dirty="0">
                <a:solidFill>
                  <a:srgbClr val="F3EFE6"/>
                </a:solidFill>
                <a:latin typeface="Cambria" pitchFamily="34" charset="0"/>
                <a:ea typeface="Cambria" pitchFamily="34" charset="-122"/>
                <a:cs typeface="Cambria" pitchFamily="34" charset="-120"/>
              </a:rPr>
              <a:t>Calm</a:t>
            </a:r>
            <a:endParaRPr lang="en-US" sz="1800" dirty="0"/>
          </a:p>
        </p:txBody>
      </p:sp>
      <p:sp>
        <p:nvSpPr>
          <p:cNvPr id="6" name="Text 3"/>
          <p:cNvSpPr txBox="1"/>
          <p:nvPr/>
        </p:nvSpPr>
        <p:spPr>
          <a:xfrm>
            <a:off x="1691640" y="1600200"/>
            <a:ext cx="2560320" cy="457200"/>
          </a:xfrm>
          <a:prstGeom prst="rect">
            <a:avLst/>
          </a:prstGeom>
          <a:noFill/>
          <a:ln/>
        </p:spPr>
        <p:txBody>
          <a:bodyPr wrap="square" lIns="0" tIns="0" rIns="0" bIns="0" rtlCol="0" anchor="ctr"/>
          <a:lstStyle/>
          <a:p>
            <a:pPr indent="0" marL="0">
              <a:buNone/>
            </a:pPr>
            <a:r>
              <a:rPr lang="en-US" sz="1300" dirty="0">
                <a:solidFill>
                  <a:srgbClr val="C9CFDB"/>
                </a:solidFill>
                <a:latin typeface="Calibri" pitchFamily="34" charset="0"/>
                <a:ea typeface="Calibri" pitchFamily="34" charset="-122"/>
                <a:cs typeface="Calibri" pitchFamily="34" charset="-120"/>
              </a:rPr>
              <a:t>small blue bubble, count only</a:t>
            </a:r>
            <a:endParaRPr lang="en-US" sz="1300" dirty="0"/>
          </a:p>
        </p:txBody>
      </p:sp>
      <p:sp>
        <p:nvSpPr>
          <p:cNvPr id="7" name="Shape 4"/>
          <p:cNvSpPr/>
          <p:nvPr/>
        </p:nvSpPr>
        <p:spPr>
          <a:xfrm>
            <a:off x="662940" y="2263140"/>
            <a:ext cx="685800" cy="685800"/>
          </a:xfrm>
          <a:prstGeom prst="ellipse">
            <a:avLst/>
          </a:prstGeom>
          <a:solidFill>
            <a:srgbClr val="F2C879"/>
          </a:solidFill>
          <a:ln w="12700">
            <a:solidFill>
              <a:srgbClr val="F2C879"/>
            </a:solidFill>
            <a:prstDash val="solid"/>
          </a:ln>
        </p:spPr>
      </p:sp>
      <p:sp>
        <p:nvSpPr>
          <p:cNvPr id="8" name="Text 5"/>
          <p:cNvSpPr txBox="1"/>
          <p:nvPr/>
        </p:nvSpPr>
        <p:spPr>
          <a:xfrm>
            <a:off x="1691640" y="2194560"/>
            <a:ext cx="2377440" cy="365760"/>
          </a:xfrm>
          <a:prstGeom prst="rect">
            <a:avLst/>
          </a:prstGeom>
          <a:noFill/>
          <a:ln/>
        </p:spPr>
        <p:txBody>
          <a:bodyPr wrap="square" lIns="0" tIns="0" rIns="0" bIns="0" rtlCol="0" anchor="ctr"/>
          <a:lstStyle/>
          <a:p>
            <a:pPr indent="0" marL="0">
              <a:buNone/>
            </a:pPr>
            <a:r>
              <a:rPr lang="en-US" sz="1800" b="1" dirty="0">
                <a:solidFill>
                  <a:srgbClr val="F3EFE6"/>
                </a:solidFill>
                <a:latin typeface="Cambria" pitchFamily="34" charset="0"/>
                <a:ea typeface="Cambria" pitchFamily="34" charset="-122"/>
                <a:cs typeface="Cambria" pitchFamily="34" charset="-120"/>
              </a:rPr>
              <a:t>Aware</a:t>
            </a:r>
            <a:endParaRPr lang="en-US" sz="1800" dirty="0"/>
          </a:p>
        </p:txBody>
      </p:sp>
      <p:sp>
        <p:nvSpPr>
          <p:cNvPr id="9" name="Text 6"/>
          <p:cNvSpPr txBox="1"/>
          <p:nvPr/>
        </p:nvSpPr>
        <p:spPr>
          <a:xfrm>
            <a:off x="1691640" y="2560320"/>
            <a:ext cx="2560320" cy="457200"/>
          </a:xfrm>
          <a:prstGeom prst="rect">
            <a:avLst/>
          </a:prstGeom>
          <a:noFill/>
          <a:ln/>
        </p:spPr>
        <p:txBody>
          <a:bodyPr wrap="square" lIns="0" tIns="0" rIns="0" bIns="0" rtlCol="0" anchor="ctr"/>
          <a:lstStyle/>
          <a:p>
            <a:pPr indent="0" marL="0">
              <a:buNone/>
            </a:pPr>
            <a:r>
              <a:rPr lang="en-US" sz="1300" dirty="0">
                <a:solidFill>
                  <a:srgbClr val="C9CFDB"/>
                </a:solidFill>
                <a:latin typeface="Calibri" pitchFamily="34" charset="0"/>
                <a:ea typeface="Calibri" pitchFamily="34" charset="-122"/>
                <a:cs typeface="Calibri" pitchFamily="34" charset="-120"/>
              </a:rPr>
              <a:t>warms to amber past your limit</a:t>
            </a:r>
            <a:endParaRPr lang="en-US" sz="1300" dirty="0"/>
          </a:p>
        </p:txBody>
      </p:sp>
      <p:sp>
        <p:nvSpPr>
          <p:cNvPr id="10" name="Shape 7"/>
          <p:cNvSpPr/>
          <p:nvPr/>
        </p:nvSpPr>
        <p:spPr>
          <a:xfrm>
            <a:off x="548640" y="3108960"/>
            <a:ext cx="914400" cy="914400"/>
          </a:xfrm>
          <a:prstGeom prst="ellipse">
            <a:avLst/>
          </a:prstGeom>
          <a:solidFill>
            <a:srgbClr val="FF8F78"/>
          </a:solidFill>
          <a:ln w="12700">
            <a:solidFill>
              <a:srgbClr val="FF8F78"/>
            </a:solidFill>
            <a:prstDash val="solid"/>
          </a:ln>
        </p:spPr>
      </p:sp>
      <p:sp>
        <p:nvSpPr>
          <p:cNvPr id="11" name="Text 8"/>
          <p:cNvSpPr txBox="1"/>
          <p:nvPr/>
        </p:nvSpPr>
        <p:spPr>
          <a:xfrm>
            <a:off x="1691640" y="3154680"/>
            <a:ext cx="2377440" cy="365760"/>
          </a:xfrm>
          <a:prstGeom prst="rect">
            <a:avLst/>
          </a:prstGeom>
          <a:noFill/>
          <a:ln/>
        </p:spPr>
        <p:txBody>
          <a:bodyPr wrap="square" lIns="0" tIns="0" rIns="0" bIns="0" rtlCol="0" anchor="ctr"/>
          <a:lstStyle/>
          <a:p>
            <a:pPr indent="0" marL="0">
              <a:buNone/>
            </a:pPr>
            <a:r>
              <a:rPr lang="en-US" sz="1800" b="1" dirty="0">
                <a:solidFill>
                  <a:srgbClr val="F3EFE6"/>
                </a:solidFill>
                <a:latin typeface="Cambria" pitchFamily="34" charset="0"/>
                <a:ea typeface="Cambria" pitchFamily="34" charset="-122"/>
                <a:cs typeface="Cambria" pitchFamily="34" charset="-120"/>
              </a:rPr>
              <a:t>Resist</a:t>
            </a:r>
            <a:endParaRPr lang="en-US" sz="1800" dirty="0"/>
          </a:p>
        </p:txBody>
      </p:sp>
      <p:sp>
        <p:nvSpPr>
          <p:cNvPr id="12" name="Text 9"/>
          <p:cNvSpPr txBox="1"/>
          <p:nvPr/>
        </p:nvSpPr>
        <p:spPr>
          <a:xfrm>
            <a:off x="1691640" y="3520440"/>
            <a:ext cx="2560320" cy="457200"/>
          </a:xfrm>
          <a:prstGeom prst="rect">
            <a:avLst/>
          </a:prstGeom>
          <a:noFill/>
          <a:ln/>
        </p:spPr>
        <p:txBody>
          <a:bodyPr wrap="square" lIns="0" tIns="0" rIns="0" bIns="0" rtlCol="0" anchor="ctr"/>
          <a:lstStyle/>
          <a:p>
            <a:pPr indent="0" marL="0">
              <a:buNone/>
            </a:pPr>
            <a:r>
              <a:rPr lang="en-US" sz="1300" dirty="0">
                <a:solidFill>
                  <a:srgbClr val="C9CFDB"/>
                </a:solidFill>
                <a:latin typeface="Calibri" pitchFamily="34" charset="0"/>
                <a:ea typeface="Calibri" pitchFamily="34" charset="-122"/>
                <a:cs typeface="Calibri" pitchFamily="34" charset="-120"/>
              </a:rPr>
              <a:t>grows and turns red, filling the screen</a:t>
            </a:r>
            <a:endParaRPr lang="en-US" sz="1300" dirty="0"/>
          </a:p>
        </p:txBody>
      </p:sp>
      <p:sp>
        <p:nvSpPr>
          <p:cNvPr id="13" name="Shape 10"/>
          <p:cNvSpPr/>
          <p:nvPr/>
        </p:nvSpPr>
        <p:spPr>
          <a:xfrm>
            <a:off x="548640" y="4023360"/>
            <a:ext cx="3749040" cy="777240"/>
          </a:xfrm>
          <a:prstGeom prst="roundRect">
            <a:avLst>
              <a:gd name="adj" fmla="val 17647"/>
            </a:avLst>
          </a:prstGeom>
          <a:solidFill>
            <a:srgbClr val="F2C879"/>
          </a:solidFill>
          <a:ln w="12700">
            <a:solidFill>
              <a:srgbClr val="F2C879"/>
            </a:solidFill>
            <a:prstDash val="solid"/>
          </a:ln>
        </p:spPr>
      </p:sp>
      <p:sp>
        <p:nvSpPr>
          <p:cNvPr id="14" name="Text 11"/>
          <p:cNvSpPr txBox="1"/>
          <p:nvPr/>
        </p:nvSpPr>
        <p:spPr>
          <a:xfrm>
            <a:off x="685800" y="4023360"/>
            <a:ext cx="3474720" cy="777240"/>
          </a:xfrm>
          <a:prstGeom prst="rect">
            <a:avLst/>
          </a:prstGeom>
          <a:noFill/>
          <a:ln/>
        </p:spPr>
        <p:txBody>
          <a:bodyPr wrap="square" lIns="0" tIns="0" rIns="0" bIns="0" rtlCol="0" anchor="ctr"/>
          <a:lstStyle/>
          <a:p>
            <a:pPr indent="0" marL="0">
              <a:buNone/>
            </a:pPr>
            <a:r>
              <a:rPr lang="en-US" sz="1300" b="1" dirty="0">
                <a:solidFill>
                  <a:srgbClr val="0F1E3A"/>
                </a:solidFill>
                <a:latin typeface="Calibri" pitchFamily="34" charset="0"/>
                <a:ea typeface="Calibri" pitchFamily="34" charset="-122"/>
                <a:cs typeface="Calibri" pitchFamily="34" charset="-120"/>
              </a:rPr>
              <a:t>At threshold + 10: a 10-second break with a quote, then the count resets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0" y="1188720"/>
          <a:ext cx="4023360" cy="914400"/>
        </p:xfrm>
        <a:graphic>
          <a:graphicData uri="http://schemas.openxmlformats.org/drawingml/2006/table">
            <a:tbl>
              <a:tblPr/>
              <a:tblGrid>
                <a:gridCol w="1280160"/>
                <a:gridCol w="1645920"/>
                <a:gridCol w="1097280"/>
              </a:tblGrid>
              <a:tr h="457200">
                <a:tc>
                  <a:txBody>
                    <a:bodyPr/>
                    <a:lstStyle/>
                    <a:p>
                      <a:pPr indent="0" marL="0">
                        <a:buNone/>
                      </a:pPr>
                      <a:r>
                        <a:rPr lang="en-US" sz="1200" b="1" dirty="0">
                          <a:solidFill>
                            <a:srgbClr val="0F1E3A"/>
                          </a:solidFill>
                          <a:latin typeface="Calibri" pitchFamily="34" charset="0"/>
                          <a:ea typeface="Calibri" pitchFamily="34" charset="-122"/>
                          <a:cs typeface="Calibri" pitchFamily="34" charset="-120"/>
                        </a:rPr>
                        <a:t>Tool</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F2C879"/>
                    </a:solidFill>
                  </a:tcPr>
                </a:tc>
                <a:tc>
                  <a:txBody>
                    <a:bodyPr/>
                    <a:lstStyle/>
                    <a:p>
                      <a:pPr indent="0" marL="0">
                        <a:buNone/>
                      </a:pPr>
                      <a:r>
                        <a:rPr lang="en-US" sz="1200" b="1" dirty="0">
                          <a:solidFill>
                            <a:srgbClr val="0F1E3A"/>
                          </a:solidFill>
                          <a:latin typeface="Calibri" pitchFamily="34" charset="0"/>
                          <a:ea typeface="Calibri" pitchFamily="34" charset="-122"/>
                          <a:cs typeface="Calibri" pitchFamily="34" charset="-120"/>
                        </a:rPr>
                        <a:t>Acts</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F2C879"/>
                    </a:solidFill>
                  </a:tcPr>
                </a:tc>
                <a:tc>
                  <a:txBody>
                    <a:bodyPr/>
                    <a:lstStyle/>
                    <a:p>
                      <a:pPr indent="0" marL="0">
                        <a:buNone/>
                      </a:pPr>
                      <a:r>
                        <a:rPr lang="en-US" sz="1200" b="1" dirty="0">
                          <a:solidFill>
                            <a:srgbClr val="0F1E3A"/>
                          </a:solidFill>
                          <a:latin typeface="Calibri" pitchFamily="34" charset="0"/>
                          <a:ea typeface="Calibri" pitchFamily="34" charset="-122"/>
                          <a:cs typeface="Calibri" pitchFamily="34" charset="-120"/>
                        </a:rPr>
                        <a:t>Measures</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F2C879"/>
                    </a:solidFill>
                  </a:tcPr>
                </a:tc>
              </a:tr>
              <a:tr h="457200">
                <a:tc>
                  <a:txBody>
                    <a:bodyPr/>
                    <a:lstStyle/>
                    <a:p>
                      <a:pPr indent="0" marL="0">
                        <a:buNone/>
                      </a:pPr>
                      <a:r>
                        <a:rPr lang="en-US" sz="1200" dirty="0">
                          <a:solidFill>
                            <a:srgbClr val="F3EFE6"/>
                          </a:solidFill>
                          <a:latin typeface="Calibri" pitchFamily="34" charset="0"/>
                          <a:ea typeface="Calibri" pitchFamily="34" charset="-122"/>
                          <a:cs typeface="Calibri" pitchFamily="34" charset="-120"/>
                        </a:rPr>
                        <a:t>one sec</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1B2E52"/>
                    </a:solidFill>
                  </a:tcPr>
                </a:tc>
                <a:tc>
                  <a:txBody>
                    <a:bodyPr/>
                    <a:lstStyle/>
                    <a:p>
                      <a:pPr indent="0" marL="0">
                        <a:buNone/>
                      </a:pPr>
                      <a:r>
                        <a:rPr lang="en-US" sz="1200" dirty="0">
                          <a:solidFill>
                            <a:srgbClr val="F3EFE6"/>
                          </a:solidFill>
                          <a:latin typeface="Calibri" pitchFamily="34" charset="0"/>
                          <a:ea typeface="Calibri" pitchFamily="34" charset="-122"/>
                          <a:cs typeface="Calibri" pitchFamily="34" charset="-120"/>
                        </a:rPr>
                        <a:t>Before app opens</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1B2E52"/>
                    </a:solidFill>
                  </a:tcPr>
                </a:tc>
                <a:tc>
                  <a:txBody>
                    <a:bodyPr/>
                    <a:lstStyle/>
                    <a:p>
                      <a:pPr indent="0" marL="0">
                        <a:buNone/>
                      </a:pPr>
                      <a:r>
                        <a:rPr lang="en-US" sz="1200" dirty="0">
                          <a:solidFill>
                            <a:srgbClr val="F3EFE6"/>
                          </a:solidFill>
                          <a:latin typeface="Calibri" pitchFamily="34" charset="0"/>
                          <a:ea typeface="Calibri" pitchFamily="34" charset="-122"/>
                          <a:cs typeface="Calibri" pitchFamily="34" charset="-120"/>
                        </a:rPr>
                        <a:t>App opens</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1B2E52"/>
                    </a:solidFill>
                  </a:tcPr>
                </a:tc>
              </a:tr>
              <a:tr h="457200">
                <a:tc>
                  <a:txBody>
                    <a:bodyPr/>
                    <a:lstStyle/>
                    <a:p>
                      <a:pPr indent="0" marL="0">
                        <a:buNone/>
                      </a:pPr>
                      <a:r>
                        <a:rPr lang="en-US" sz="1200" dirty="0">
                          <a:solidFill>
                            <a:srgbClr val="F3EFE6"/>
                          </a:solidFill>
                          <a:latin typeface="Calibri" pitchFamily="34" charset="0"/>
                          <a:ea typeface="Calibri" pitchFamily="34" charset="-122"/>
                          <a:cs typeface="Calibri" pitchFamily="34" charset="-120"/>
                        </a:rPr>
                        <a:t>ScreenZen</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1B2E52"/>
                    </a:solidFill>
                  </a:tcPr>
                </a:tc>
                <a:tc>
                  <a:txBody>
                    <a:bodyPr/>
                    <a:lstStyle/>
                    <a:p>
                      <a:pPr indent="0" marL="0">
                        <a:buNone/>
                      </a:pPr>
                      <a:r>
                        <a:rPr lang="en-US" sz="1200" dirty="0">
                          <a:solidFill>
                            <a:srgbClr val="F3EFE6"/>
                          </a:solidFill>
                          <a:latin typeface="Calibri" pitchFamily="34" charset="0"/>
                          <a:ea typeface="Calibri" pitchFamily="34" charset="-122"/>
                          <a:cs typeface="Calibri" pitchFamily="34" charset="-120"/>
                        </a:rPr>
                        <a:t>Before app opens</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1B2E52"/>
                    </a:solidFill>
                  </a:tcPr>
                </a:tc>
                <a:tc>
                  <a:txBody>
                    <a:bodyPr/>
                    <a:lstStyle/>
                    <a:p>
                      <a:pPr indent="0" marL="0">
                        <a:buNone/>
                      </a:pPr>
                      <a:r>
                        <a:rPr lang="en-US" sz="1200" dirty="0">
                          <a:solidFill>
                            <a:srgbClr val="F3EFE6"/>
                          </a:solidFill>
                          <a:latin typeface="Calibri" pitchFamily="34" charset="0"/>
                          <a:ea typeface="Calibri" pitchFamily="34" charset="-122"/>
                          <a:cs typeface="Calibri" pitchFamily="34" charset="-120"/>
                        </a:rPr>
                        <a:t>Delay / task</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1B2E52"/>
                    </a:solidFill>
                  </a:tcPr>
                </a:tc>
              </a:tr>
              <a:tr h="457200">
                <a:tc>
                  <a:txBody>
                    <a:bodyPr/>
                    <a:lstStyle/>
                    <a:p>
                      <a:pPr indent="0" marL="0">
                        <a:buNone/>
                      </a:pPr>
                      <a:r>
                        <a:rPr lang="en-US" sz="1200" dirty="0">
                          <a:solidFill>
                            <a:srgbClr val="F3EFE6"/>
                          </a:solidFill>
                          <a:latin typeface="Calibri" pitchFamily="34" charset="0"/>
                          <a:ea typeface="Calibri" pitchFamily="34" charset="-122"/>
                          <a:cs typeface="Calibri" pitchFamily="34" charset="-120"/>
                        </a:rPr>
                        <a:t>Opal</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1B2E52"/>
                    </a:solidFill>
                  </a:tcPr>
                </a:tc>
                <a:tc>
                  <a:txBody>
                    <a:bodyPr/>
                    <a:lstStyle/>
                    <a:p>
                      <a:pPr indent="0" marL="0">
                        <a:buNone/>
                      </a:pPr>
                      <a:r>
                        <a:rPr lang="en-US" sz="1200" dirty="0">
                          <a:solidFill>
                            <a:srgbClr val="F3EFE6"/>
                          </a:solidFill>
                          <a:latin typeface="Calibri" pitchFamily="34" charset="0"/>
                          <a:ea typeface="Calibri" pitchFamily="34" charset="-122"/>
                          <a:cs typeface="Calibri" pitchFamily="34" charset="-120"/>
                        </a:rPr>
                        <a:t>Scheduled blocks</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1B2E52"/>
                    </a:solidFill>
                  </a:tcPr>
                </a:tc>
                <a:tc>
                  <a:txBody>
                    <a:bodyPr/>
                    <a:lstStyle/>
                    <a:p>
                      <a:pPr indent="0" marL="0">
                        <a:buNone/>
                      </a:pPr>
                      <a:r>
                        <a:rPr lang="en-US" sz="1200" dirty="0">
                          <a:solidFill>
                            <a:srgbClr val="F3EFE6"/>
                          </a:solidFill>
                          <a:latin typeface="Calibri" pitchFamily="34" charset="0"/>
                          <a:ea typeface="Calibri" pitchFamily="34" charset="-122"/>
                          <a:cs typeface="Calibri" pitchFamily="34" charset="-120"/>
                        </a:rPr>
                        <a:t>Clock time</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1B2E52"/>
                    </a:solidFill>
                  </a:tcPr>
                </a:tc>
              </a:tr>
              <a:tr h="457200">
                <a:tc>
                  <a:txBody>
                    <a:bodyPr/>
                    <a:lstStyle/>
                    <a:p>
                      <a:pPr indent="0" marL="0">
                        <a:buNone/>
                      </a:pPr>
                      <a:r>
                        <a:rPr lang="en-US" sz="1200" dirty="0">
                          <a:solidFill>
                            <a:srgbClr val="F3EFE6"/>
                          </a:solidFill>
                          <a:latin typeface="Calibri" pitchFamily="34" charset="0"/>
                          <a:ea typeface="Calibri" pitchFamily="34" charset="-122"/>
                          <a:cs typeface="Calibri" pitchFamily="34" charset="-120"/>
                        </a:rPr>
                        <a:t>Apple Screen Time</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1B2E52"/>
                    </a:solidFill>
                  </a:tcPr>
                </a:tc>
                <a:tc>
                  <a:txBody>
                    <a:bodyPr/>
                    <a:lstStyle/>
                    <a:p>
                      <a:pPr indent="0" marL="0">
                        <a:buNone/>
                      </a:pPr>
                      <a:r>
                        <a:rPr lang="en-US" sz="1200" dirty="0">
                          <a:solidFill>
                            <a:srgbClr val="F3EFE6"/>
                          </a:solidFill>
                          <a:latin typeface="Calibri" pitchFamily="34" charset="0"/>
                          <a:ea typeface="Calibri" pitchFamily="34" charset="-122"/>
                          <a:cs typeface="Calibri" pitchFamily="34" charset="-120"/>
                        </a:rPr>
                        <a:t>Daily limit, 1-tap ignore</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1B2E52"/>
                    </a:solidFill>
                  </a:tcPr>
                </a:tc>
                <a:tc>
                  <a:txBody>
                    <a:bodyPr/>
                    <a:lstStyle/>
                    <a:p>
                      <a:pPr indent="0" marL="0">
                        <a:buNone/>
                      </a:pPr>
                      <a:r>
                        <a:rPr lang="en-US" sz="1200" dirty="0">
                          <a:solidFill>
                            <a:srgbClr val="F3EFE6"/>
                          </a:solidFill>
                          <a:latin typeface="Calibri" pitchFamily="34" charset="0"/>
                          <a:ea typeface="Calibri" pitchFamily="34" charset="-122"/>
                          <a:cs typeface="Calibri" pitchFamily="34" charset="-120"/>
                        </a:rPr>
                        <a:t>Clock time</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1B2E52"/>
                    </a:solidFill>
                  </a:tcPr>
                </a:tc>
              </a:tr>
              <a:tr h="457200">
                <a:tc>
                  <a:txBody>
                    <a:bodyPr/>
                    <a:lstStyle/>
                    <a:p>
                      <a:pPr indent="0" marL="0">
                        <a:buNone/>
                      </a:pPr>
                      <a:r>
                        <a:rPr lang="en-US" sz="1200" b="1" dirty="0">
                          <a:solidFill>
                            <a:srgbClr val="0F1E3A"/>
                          </a:solidFill>
                          <a:latin typeface="Calibri" pitchFamily="34" charset="0"/>
                          <a:ea typeface="Calibri" pitchFamily="34" charset="-122"/>
                          <a:cs typeface="Calibri" pitchFamily="34" charset="-120"/>
                        </a:rPr>
                        <a:t>DoomGuard</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FF8F78"/>
                    </a:solidFill>
                  </a:tcPr>
                </a:tc>
                <a:tc>
                  <a:txBody>
                    <a:bodyPr/>
                    <a:lstStyle/>
                    <a:p>
                      <a:pPr indent="0" marL="0">
                        <a:buNone/>
                      </a:pPr>
                      <a:r>
                        <a:rPr lang="en-US" sz="1200" b="1" dirty="0">
                          <a:solidFill>
                            <a:srgbClr val="0F1E3A"/>
                          </a:solidFill>
                          <a:latin typeface="Calibri" pitchFamily="34" charset="0"/>
                          <a:ea typeface="Calibri" pitchFamily="34" charset="-122"/>
                          <a:cs typeface="Calibri" pitchFamily="34" charset="-120"/>
                        </a:rPr>
                        <a:t>Inside the session, continuous</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FF8F78"/>
                    </a:solidFill>
                  </a:tcPr>
                </a:tc>
                <a:tc>
                  <a:txBody>
                    <a:bodyPr/>
                    <a:lstStyle/>
                    <a:p>
                      <a:pPr indent="0" marL="0">
                        <a:buNone/>
                      </a:pPr>
                      <a:r>
                        <a:rPr lang="en-US" sz="1200" b="1" dirty="0">
                          <a:solidFill>
                            <a:srgbClr val="0F1E3A"/>
                          </a:solidFill>
                          <a:latin typeface="Calibri" pitchFamily="34" charset="0"/>
                          <a:ea typeface="Calibri" pitchFamily="34" charset="-122"/>
                          <a:cs typeface="Calibri" pitchFamily="34" charset="-120"/>
                        </a:rPr>
                        <a:t>Reels watched</a:t>
                      </a:r>
                      <a:endParaRPr lang="en-US" sz="1200" dirty="0">
                        <a:latin typeface="Calibri" charset="0"/>
                        <a:ea typeface="Calibri" charset="0"/>
                        <a:cs typeface="Calibri" charset="0"/>
                      </a:endParaRPr>
                    </a:p>
                  </a:txBody>
                  <a:tcPr marL="91440" marR="91440" marT="45720" marB="45720" anchor="ctr">
                    <a:lnL w="6350" cap="flat" cmpd="sng" algn="ctr">
                      <a:solidFill>
                        <a:srgbClr val="2A4A78"/>
                      </a:solidFill>
                      <a:prstDash val="solid"/>
                      <a:round/>
                      <a:headEnd type="none" w="med" len="med"/>
                      <a:tailEnd type="none" w="med" len="med"/>
                    </a:lnL>
                    <a:lnR w="6350" cap="flat" cmpd="sng" algn="ctr">
                      <a:solidFill>
                        <a:srgbClr val="2A4A78"/>
                      </a:solidFill>
                      <a:prstDash val="solid"/>
                      <a:round/>
                      <a:headEnd type="none" w="med" len="med"/>
                      <a:tailEnd type="none" w="med" len="med"/>
                    </a:lnR>
                    <a:lnT w="6350" cap="flat" cmpd="sng" algn="ctr">
                      <a:solidFill>
                        <a:srgbClr val="2A4A78"/>
                      </a:solidFill>
                      <a:prstDash val="solid"/>
                      <a:round/>
                      <a:headEnd type="none" w="med" len="med"/>
                      <a:tailEnd type="none" w="med" len="med"/>
                    </a:lnT>
                    <a:lnB w="6350" cap="flat" cmpd="sng" algn="ctr">
                      <a:solidFill>
                        <a:srgbClr val="2A4A78"/>
                      </a:solidFill>
                      <a:prstDash val="solid"/>
                      <a:round/>
                      <a:headEnd type="none" w="med" len="med"/>
                      <a:tailEnd type="none" w="med" len="med"/>
                    </a:lnB>
                    <a:solidFill>
                      <a:srgbClr val="FF8F78"/>
                    </a:solidFill>
                  </a:tcPr>
                </a:tc>
              </a:tr>
            </a:tbl>
          </a:graphicData>
        </a:graphic>
      </p:graphicFrame>
      <p:sp>
        <p:nvSpPr>
          <p:cNvPr id="16" name="Text 12"/>
          <p:cNvSpPr txBox="1"/>
          <p:nvPr/>
        </p:nvSpPr>
        <p:spPr>
          <a:xfrm>
            <a:off x="4572000" y="4023360"/>
            <a:ext cx="4023360" cy="777240"/>
          </a:xfrm>
          <a:prstGeom prst="rect">
            <a:avLst/>
          </a:prstGeom>
          <a:noFill/>
          <a:ln/>
        </p:spPr>
        <p:txBody>
          <a:bodyPr wrap="square" lIns="0" tIns="0" rIns="0" bIns="0" rtlCol="0" anchor="ctr"/>
          <a:lstStyle/>
          <a:p>
            <a:pPr indent="0" marL="0">
              <a:buNone/>
            </a:pPr>
            <a:r>
              <a:rPr lang="en-US" sz="1100" dirty="0">
                <a:solidFill>
                  <a:srgbClr val="C9CFDB"/>
                </a:solidFill>
                <a:latin typeface="Calibri" pitchFamily="34" charset="0"/>
                <a:ea typeface="Calibri" pitchFamily="34" charset="-122"/>
                <a:cs typeface="Calibri" pitchFamily="34" charset="-120"/>
              </a:rPr>
              <a:t>one sec's PNAS 2023 field study (n=280): users closed the app after the pause in 36% of attempts. Door-guards work, but once you are in, nothing stops the scroll.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400" b="1" dirty="0">
                <a:solidFill>
                  <a:srgbClr val="F3EFE6"/>
                </a:solidFill>
                <a:latin typeface="Cambria" pitchFamily="34" charset="0"/>
                <a:ea typeface="Cambria" pitchFamily="34" charset="-122"/>
                <a:cs typeface="Cambria" pitchFamily="34" charset="-120"/>
              </a:rPr>
              <a:t>One engine, three looks</a:t>
            </a:r>
            <a:endParaRPr lang="en-US" sz="3400" dirty="0"/>
          </a:p>
        </p:txBody>
      </p:sp>
      <p:sp>
        <p:nvSpPr>
          <p:cNvPr id="4" name="Shape 1"/>
          <p:cNvSpPr/>
          <p:nvPr/>
        </p:nvSpPr>
        <p:spPr>
          <a:xfrm>
            <a:off x="548640" y="1234440"/>
            <a:ext cx="2560320" cy="2743200"/>
          </a:xfrm>
          <a:prstGeom prst="roundRect">
            <a:avLst>
              <a:gd name="adj" fmla="val 8929"/>
            </a:avLst>
          </a:prstGeom>
          <a:solidFill>
            <a:srgbClr val="0F1E3A"/>
          </a:solidFill>
          <a:ln w="12700">
            <a:solidFill>
              <a:srgbClr val="F2C879"/>
            </a:solidFill>
            <a:prstDash val="solid"/>
          </a:ln>
          <a:effectLst>
            <a:outerShdw sx="100000" sy="100000" kx="0" ky="0" algn="bl" rotWithShape="0" blurRad="127000" dist="38100" dir="5400000">
              <a:srgbClr val="000000">
                <a:alpha val="25000"/>
              </a:srgbClr>
            </a:outerShdw>
          </a:effectLst>
        </p:spPr>
      </p:sp>
      <p:sp>
        <p:nvSpPr>
          <p:cNvPr id="5" name="Shape 2"/>
          <p:cNvSpPr/>
          <p:nvPr/>
        </p:nvSpPr>
        <p:spPr>
          <a:xfrm>
            <a:off x="1188720" y="1554480"/>
            <a:ext cx="1280160" cy="1280160"/>
          </a:xfrm>
          <a:prstGeom prst="ellipse">
            <a:avLst/>
          </a:prstGeom>
          <a:solidFill>
            <a:srgbClr val="FF8F78">
              <a:alpha val="30000"/>
            </a:srgbClr>
          </a:solidFill>
          <a:ln w="12700">
            <a:solidFill>
              <a:srgbClr val="FF8F78"/>
            </a:solidFill>
            <a:prstDash val="solid"/>
          </a:ln>
        </p:spPr>
      </p:sp>
      <p:sp>
        <p:nvSpPr>
          <p:cNvPr id="6" name="Shape 3"/>
          <p:cNvSpPr/>
          <p:nvPr/>
        </p:nvSpPr>
        <p:spPr>
          <a:xfrm>
            <a:off x="1371600" y="1737360"/>
            <a:ext cx="914400" cy="914400"/>
          </a:xfrm>
          <a:prstGeom prst="ellipse">
            <a:avLst/>
          </a:prstGeom>
          <a:solidFill>
            <a:srgbClr val="F2C879"/>
          </a:solidFill>
          <a:ln w="12700">
            <a:solidFill>
              <a:srgbClr val="F2C879"/>
            </a:solidFill>
            <a:prstDash val="solid"/>
          </a:ln>
        </p:spPr>
      </p:sp>
      <p:sp>
        <p:nvSpPr>
          <p:cNvPr id="7" name="Text 4"/>
          <p:cNvSpPr txBox="1"/>
          <p:nvPr/>
        </p:nvSpPr>
        <p:spPr>
          <a:xfrm>
            <a:off x="1371600" y="1737360"/>
            <a:ext cx="914400" cy="914400"/>
          </a:xfrm>
          <a:prstGeom prst="rect">
            <a:avLst/>
          </a:prstGeom>
          <a:noFill/>
          <a:ln/>
        </p:spPr>
        <p:txBody>
          <a:bodyPr wrap="square" lIns="0" tIns="0" rIns="0" bIns="0" rtlCol="0" anchor="ctr"/>
          <a:lstStyle/>
          <a:p>
            <a:pPr algn="ctr" indent="0" marL="0">
              <a:buNone/>
            </a:pPr>
            <a:r>
              <a:rPr lang="en-US" sz="2800" b="1" dirty="0">
                <a:solidFill>
                  <a:srgbClr val="0F1E3A"/>
                </a:solidFill>
                <a:latin typeface="Cambria" pitchFamily="34" charset="0"/>
                <a:ea typeface="Cambria" pitchFamily="34" charset="-122"/>
                <a:cs typeface="Cambria" pitchFamily="34" charset="-120"/>
              </a:rPr>
              <a:t>24</a:t>
            </a:r>
            <a:endParaRPr lang="en-US" sz="2800" dirty="0"/>
          </a:p>
        </p:txBody>
      </p:sp>
      <p:sp>
        <p:nvSpPr>
          <p:cNvPr id="8" name="Text 5"/>
          <p:cNvSpPr txBox="1"/>
          <p:nvPr/>
        </p:nvSpPr>
        <p:spPr>
          <a:xfrm>
            <a:off x="777240" y="3017520"/>
            <a:ext cx="2103120" cy="411480"/>
          </a:xfrm>
          <a:prstGeom prst="rect">
            <a:avLst/>
          </a:prstGeom>
          <a:noFill/>
          <a:ln/>
        </p:spPr>
        <p:txBody>
          <a:bodyPr wrap="square" lIns="0" tIns="0" rIns="0" bIns="0" rtlCol="0" anchor="ctr"/>
          <a:lstStyle/>
          <a:p>
            <a:pPr indent="0" marL="0">
              <a:buNone/>
            </a:pPr>
            <a:r>
              <a:rPr lang="en-US" sz="2200" b="1" dirty="0">
                <a:solidFill>
                  <a:srgbClr val="F3EFE6"/>
                </a:solidFill>
                <a:latin typeface="Cambria" pitchFamily="34" charset="0"/>
                <a:ea typeface="Cambria" pitchFamily="34" charset="-122"/>
                <a:cs typeface="Cambria" pitchFamily="34" charset="-120"/>
              </a:rPr>
              <a:t>Bubble</a:t>
            </a:r>
            <a:endParaRPr lang="en-US" sz="2200" dirty="0"/>
          </a:p>
        </p:txBody>
      </p:sp>
      <p:sp>
        <p:nvSpPr>
          <p:cNvPr id="9" name="Text 6"/>
          <p:cNvSpPr txBox="1"/>
          <p:nvPr/>
        </p:nvSpPr>
        <p:spPr>
          <a:xfrm>
            <a:off x="777240" y="3429000"/>
            <a:ext cx="2103120" cy="502920"/>
          </a:xfrm>
          <a:prstGeom prst="rect">
            <a:avLst/>
          </a:prstGeom>
          <a:noFill/>
          <a:ln/>
        </p:spPr>
        <p:txBody>
          <a:bodyPr wrap="square" lIns="0" tIns="0" rIns="0" bIns="0" rtlCol="0" anchor="ctr"/>
          <a:lstStyle/>
          <a:p>
            <a:pPr indent="0" marL="0">
              <a:buNone/>
            </a:pPr>
            <a:r>
              <a:rPr lang="en-US" sz="1200" dirty="0">
                <a:solidFill>
                  <a:srgbClr val="C9CFDB"/>
                </a:solidFill>
                <a:latin typeface="Calibri" pitchFamily="34" charset="0"/>
                <a:ea typeface="Calibri" pitchFamily="34" charset="-122"/>
                <a:cs typeface="Calibri" pitchFamily="34" charset="-120"/>
              </a:rPr>
              <a:t>A quiet dusk. The bubble grows and warms as you scroll.</a:t>
            </a:r>
            <a:endParaRPr lang="en-US" sz="1200" dirty="0"/>
          </a:p>
        </p:txBody>
      </p:sp>
      <p:sp>
        <p:nvSpPr>
          <p:cNvPr id="10" name="Shape 7"/>
          <p:cNvSpPr/>
          <p:nvPr/>
        </p:nvSpPr>
        <p:spPr>
          <a:xfrm>
            <a:off x="3291840" y="1234440"/>
            <a:ext cx="2560320" cy="2743200"/>
          </a:xfrm>
          <a:prstGeom prst="rect">
            <a:avLst/>
          </a:prstGeom>
          <a:solidFill>
            <a:srgbClr val="EDEBE6"/>
          </a:solidFill>
          <a:ln w="19050">
            <a:solidFill>
              <a:srgbClr val="111111"/>
            </a:solidFill>
            <a:prstDash val="solid"/>
          </a:ln>
          <a:effectLst>
            <a:outerShdw sx="100000" sy="100000" kx="0" ky="0" algn="bl" rotWithShape="0" blurRad="127000" dist="38100" dir="5400000">
              <a:srgbClr val="000000">
                <a:alpha val="25000"/>
              </a:srgbClr>
            </a:outerShdw>
          </a:effectLst>
        </p:spPr>
      </p:sp>
      <p:sp>
        <p:nvSpPr>
          <p:cNvPr id="11" name="Shape 8"/>
          <p:cNvSpPr/>
          <p:nvPr/>
        </p:nvSpPr>
        <p:spPr>
          <a:xfrm>
            <a:off x="3401568" y="1371600"/>
            <a:ext cx="109728" cy="182880"/>
          </a:xfrm>
          <a:prstGeom prst="rect">
            <a:avLst/>
          </a:prstGeom>
          <a:solidFill>
            <a:srgbClr val="DAD7CF"/>
          </a:solidFill>
          <a:ln w="12700">
            <a:solidFill>
              <a:srgbClr val="DAD7CF"/>
            </a:solidFill>
            <a:prstDash val="solid"/>
          </a:ln>
        </p:spPr>
      </p:sp>
      <p:sp>
        <p:nvSpPr>
          <p:cNvPr id="12" name="Shape 9"/>
          <p:cNvSpPr/>
          <p:nvPr/>
        </p:nvSpPr>
        <p:spPr>
          <a:xfrm>
            <a:off x="5632704" y="1371600"/>
            <a:ext cx="109728" cy="182880"/>
          </a:xfrm>
          <a:prstGeom prst="rect">
            <a:avLst/>
          </a:prstGeom>
          <a:solidFill>
            <a:srgbClr val="DAD7CF"/>
          </a:solidFill>
          <a:ln w="12700">
            <a:solidFill>
              <a:srgbClr val="DAD7CF"/>
            </a:solidFill>
            <a:prstDash val="solid"/>
          </a:ln>
        </p:spPr>
      </p:sp>
      <p:sp>
        <p:nvSpPr>
          <p:cNvPr id="13" name="Shape 10"/>
          <p:cNvSpPr/>
          <p:nvPr/>
        </p:nvSpPr>
        <p:spPr>
          <a:xfrm>
            <a:off x="3401568" y="1737360"/>
            <a:ext cx="109728" cy="182880"/>
          </a:xfrm>
          <a:prstGeom prst="rect">
            <a:avLst/>
          </a:prstGeom>
          <a:solidFill>
            <a:srgbClr val="DAD7CF"/>
          </a:solidFill>
          <a:ln w="12700">
            <a:solidFill>
              <a:srgbClr val="DAD7CF"/>
            </a:solidFill>
            <a:prstDash val="solid"/>
          </a:ln>
        </p:spPr>
      </p:sp>
      <p:sp>
        <p:nvSpPr>
          <p:cNvPr id="14" name="Shape 11"/>
          <p:cNvSpPr/>
          <p:nvPr/>
        </p:nvSpPr>
        <p:spPr>
          <a:xfrm>
            <a:off x="5632704" y="1737360"/>
            <a:ext cx="109728" cy="182880"/>
          </a:xfrm>
          <a:prstGeom prst="rect">
            <a:avLst/>
          </a:prstGeom>
          <a:solidFill>
            <a:srgbClr val="DAD7CF"/>
          </a:solidFill>
          <a:ln w="12700">
            <a:solidFill>
              <a:srgbClr val="DAD7CF"/>
            </a:solidFill>
            <a:prstDash val="solid"/>
          </a:ln>
        </p:spPr>
      </p:sp>
      <p:sp>
        <p:nvSpPr>
          <p:cNvPr id="15" name="Shape 12"/>
          <p:cNvSpPr/>
          <p:nvPr/>
        </p:nvSpPr>
        <p:spPr>
          <a:xfrm>
            <a:off x="3401568" y="2103120"/>
            <a:ext cx="109728" cy="182880"/>
          </a:xfrm>
          <a:prstGeom prst="rect">
            <a:avLst/>
          </a:prstGeom>
          <a:solidFill>
            <a:srgbClr val="DAD7CF"/>
          </a:solidFill>
          <a:ln w="12700">
            <a:solidFill>
              <a:srgbClr val="DAD7CF"/>
            </a:solidFill>
            <a:prstDash val="solid"/>
          </a:ln>
        </p:spPr>
      </p:sp>
      <p:sp>
        <p:nvSpPr>
          <p:cNvPr id="16" name="Shape 13"/>
          <p:cNvSpPr/>
          <p:nvPr/>
        </p:nvSpPr>
        <p:spPr>
          <a:xfrm>
            <a:off x="5632704" y="2103120"/>
            <a:ext cx="109728" cy="182880"/>
          </a:xfrm>
          <a:prstGeom prst="rect">
            <a:avLst/>
          </a:prstGeom>
          <a:solidFill>
            <a:srgbClr val="DAD7CF"/>
          </a:solidFill>
          <a:ln w="12700">
            <a:solidFill>
              <a:srgbClr val="DAD7CF"/>
            </a:solidFill>
            <a:prstDash val="solid"/>
          </a:ln>
        </p:spPr>
      </p:sp>
      <p:sp>
        <p:nvSpPr>
          <p:cNvPr id="17" name="Shape 14"/>
          <p:cNvSpPr/>
          <p:nvPr/>
        </p:nvSpPr>
        <p:spPr>
          <a:xfrm>
            <a:off x="3401568" y="2468880"/>
            <a:ext cx="109728" cy="182880"/>
          </a:xfrm>
          <a:prstGeom prst="rect">
            <a:avLst/>
          </a:prstGeom>
          <a:solidFill>
            <a:srgbClr val="DAD7CF"/>
          </a:solidFill>
          <a:ln w="12700">
            <a:solidFill>
              <a:srgbClr val="DAD7CF"/>
            </a:solidFill>
            <a:prstDash val="solid"/>
          </a:ln>
        </p:spPr>
      </p:sp>
      <p:sp>
        <p:nvSpPr>
          <p:cNvPr id="18" name="Shape 15"/>
          <p:cNvSpPr/>
          <p:nvPr/>
        </p:nvSpPr>
        <p:spPr>
          <a:xfrm>
            <a:off x="5632704" y="2468880"/>
            <a:ext cx="109728" cy="182880"/>
          </a:xfrm>
          <a:prstGeom prst="rect">
            <a:avLst/>
          </a:prstGeom>
          <a:solidFill>
            <a:srgbClr val="DAD7CF"/>
          </a:solidFill>
          <a:ln w="12700">
            <a:solidFill>
              <a:srgbClr val="DAD7CF"/>
            </a:solidFill>
            <a:prstDash val="solid"/>
          </a:ln>
        </p:spPr>
      </p:sp>
      <p:sp>
        <p:nvSpPr>
          <p:cNvPr id="19" name="Shape 16"/>
          <p:cNvSpPr/>
          <p:nvPr/>
        </p:nvSpPr>
        <p:spPr>
          <a:xfrm>
            <a:off x="3401568" y="2834640"/>
            <a:ext cx="109728" cy="182880"/>
          </a:xfrm>
          <a:prstGeom prst="rect">
            <a:avLst/>
          </a:prstGeom>
          <a:solidFill>
            <a:srgbClr val="DAD7CF"/>
          </a:solidFill>
          <a:ln w="12700">
            <a:solidFill>
              <a:srgbClr val="DAD7CF"/>
            </a:solidFill>
            <a:prstDash val="solid"/>
          </a:ln>
        </p:spPr>
      </p:sp>
      <p:sp>
        <p:nvSpPr>
          <p:cNvPr id="20" name="Shape 17"/>
          <p:cNvSpPr/>
          <p:nvPr/>
        </p:nvSpPr>
        <p:spPr>
          <a:xfrm>
            <a:off x="5632704" y="2834640"/>
            <a:ext cx="109728" cy="182880"/>
          </a:xfrm>
          <a:prstGeom prst="rect">
            <a:avLst/>
          </a:prstGeom>
          <a:solidFill>
            <a:srgbClr val="DAD7CF"/>
          </a:solidFill>
          <a:ln w="12700">
            <a:solidFill>
              <a:srgbClr val="DAD7CF"/>
            </a:solidFill>
            <a:prstDash val="solid"/>
          </a:ln>
        </p:spPr>
      </p:sp>
      <p:sp>
        <p:nvSpPr>
          <p:cNvPr id="21" name="Shape 18"/>
          <p:cNvSpPr/>
          <p:nvPr/>
        </p:nvSpPr>
        <p:spPr>
          <a:xfrm>
            <a:off x="3401568" y="3200400"/>
            <a:ext cx="109728" cy="182880"/>
          </a:xfrm>
          <a:prstGeom prst="rect">
            <a:avLst/>
          </a:prstGeom>
          <a:solidFill>
            <a:srgbClr val="DAD7CF"/>
          </a:solidFill>
          <a:ln w="12700">
            <a:solidFill>
              <a:srgbClr val="DAD7CF"/>
            </a:solidFill>
            <a:prstDash val="solid"/>
          </a:ln>
        </p:spPr>
      </p:sp>
      <p:sp>
        <p:nvSpPr>
          <p:cNvPr id="22" name="Shape 19"/>
          <p:cNvSpPr/>
          <p:nvPr/>
        </p:nvSpPr>
        <p:spPr>
          <a:xfrm>
            <a:off x="5632704" y="3200400"/>
            <a:ext cx="109728" cy="182880"/>
          </a:xfrm>
          <a:prstGeom prst="rect">
            <a:avLst/>
          </a:prstGeom>
          <a:solidFill>
            <a:srgbClr val="DAD7CF"/>
          </a:solidFill>
          <a:ln w="12700">
            <a:solidFill>
              <a:srgbClr val="DAD7CF"/>
            </a:solidFill>
            <a:prstDash val="solid"/>
          </a:ln>
        </p:spPr>
      </p:sp>
      <p:sp>
        <p:nvSpPr>
          <p:cNvPr id="23" name="Shape 20"/>
          <p:cNvSpPr/>
          <p:nvPr/>
        </p:nvSpPr>
        <p:spPr>
          <a:xfrm>
            <a:off x="3401568" y="3566160"/>
            <a:ext cx="109728" cy="182880"/>
          </a:xfrm>
          <a:prstGeom prst="rect">
            <a:avLst/>
          </a:prstGeom>
          <a:solidFill>
            <a:srgbClr val="DAD7CF"/>
          </a:solidFill>
          <a:ln w="12700">
            <a:solidFill>
              <a:srgbClr val="DAD7CF"/>
            </a:solidFill>
            <a:prstDash val="solid"/>
          </a:ln>
        </p:spPr>
      </p:sp>
      <p:sp>
        <p:nvSpPr>
          <p:cNvPr id="24" name="Shape 21"/>
          <p:cNvSpPr/>
          <p:nvPr/>
        </p:nvSpPr>
        <p:spPr>
          <a:xfrm>
            <a:off x="5632704" y="3566160"/>
            <a:ext cx="109728" cy="182880"/>
          </a:xfrm>
          <a:prstGeom prst="rect">
            <a:avLst/>
          </a:prstGeom>
          <a:solidFill>
            <a:srgbClr val="DAD7CF"/>
          </a:solidFill>
          <a:ln w="12700">
            <a:solidFill>
              <a:srgbClr val="DAD7CF"/>
            </a:solidFill>
            <a:prstDash val="solid"/>
          </a:ln>
        </p:spPr>
      </p:sp>
      <p:sp>
        <p:nvSpPr>
          <p:cNvPr id="25" name="Text 22"/>
          <p:cNvSpPr txBox="1"/>
          <p:nvPr/>
        </p:nvSpPr>
        <p:spPr>
          <a:xfrm>
            <a:off x="3566160" y="1417320"/>
            <a:ext cx="2011680" cy="1371600"/>
          </a:xfrm>
          <a:prstGeom prst="rect">
            <a:avLst/>
          </a:prstGeom>
          <a:noFill/>
          <a:ln/>
        </p:spPr>
        <p:txBody>
          <a:bodyPr wrap="square" lIns="0" tIns="0" rIns="0" bIns="0" rtlCol="0" anchor="ctr"/>
          <a:lstStyle/>
          <a:p>
            <a:pPr algn="ctr" indent="0" marL="0">
              <a:buNone/>
            </a:pPr>
            <a:r>
              <a:rPr lang="en-US" sz="7200" dirty="0">
                <a:solidFill>
                  <a:srgbClr val="D93A2B"/>
                </a:solidFill>
                <a:latin typeface="Impact" pitchFamily="34" charset="0"/>
                <a:ea typeface="Impact" pitchFamily="34" charset="-122"/>
                <a:cs typeface="Impact" pitchFamily="34" charset="-120"/>
              </a:rPr>
              <a:t>18</a:t>
            </a:r>
            <a:endParaRPr lang="en-US" sz="7200" dirty="0"/>
          </a:p>
        </p:txBody>
      </p:sp>
      <p:sp>
        <p:nvSpPr>
          <p:cNvPr id="26" name="Text 23"/>
          <p:cNvSpPr txBox="1"/>
          <p:nvPr/>
        </p:nvSpPr>
        <p:spPr>
          <a:xfrm>
            <a:off x="3566160" y="3017520"/>
            <a:ext cx="2103120" cy="411480"/>
          </a:xfrm>
          <a:prstGeom prst="rect">
            <a:avLst/>
          </a:prstGeom>
          <a:noFill/>
          <a:ln/>
        </p:spPr>
        <p:txBody>
          <a:bodyPr wrap="square" lIns="0" tIns="0" rIns="0" bIns="0" rtlCol="0" anchor="ctr"/>
          <a:lstStyle/>
          <a:p>
            <a:pPr indent="0" marL="0">
              <a:buNone/>
            </a:pPr>
            <a:r>
              <a:rPr lang="en-US" sz="2200" dirty="0">
                <a:solidFill>
                  <a:srgbClr val="111111"/>
                </a:solidFill>
                <a:latin typeface="Impact" pitchFamily="34" charset="0"/>
                <a:ea typeface="Impact" pitchFamily="34" charset="-122"/>
                <a:cs typeface="Impact" pitchFamily="34" charset="-120"/>
              </a:rPr>
              <a:t>REEL</a:t>
            </a:r>
            <a:endParaRPr lang="en-US" sz="2200" dirty="0"/>
          </a:p>
        </p:txBody>
      </p:sp>
      <p:sp>
        <p:nvSpPr>
          <p:cNvPr id="27" name="Text 24"/>
          <p:cNvSpPr txBox="1"/>
          <p:nvPr/>
        </p:nvSpPr>
        <p:spPr>
          <a:xfrm>
            <a:off x="3566160" y="3429000"/>
            <a:ext cx="2011680" cy="502920"/>
          </a:xfrm>
          <a:prstGeom prst="rect">
            <a:avLst/>
          </a:prstGeom>
          <a:noFill/>
          <a:ln/>
        </p:spPr>
        <p:txBody>
          <a:bodyPr wrap="square" lIns="0" tIns="0" rIns="0" bIns="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Film strip and a huge countdown. Flat, square, ink on bone.</a:t>
            </a:r>
            <a:endParaRPr lang="en-US" sz="1200" dirty="0"/>
          </a:p>
        </p:txBody>
      </p:sp>
      <p:sp>
        <p:nvSpPr>
          <p:cNvPr id="28" name="Shape 25"/>
          <p:cNvSpPr/>
          <p:nvPr/>
        </p:nvSpPr>
        <p:spPr>
          <a:xfrm>
            <a:off x="6035040" y="1234440"/>
            <a:ext cx="2560320" cy="2743200"/>
          </a:xfrm>
          <a:prstGeom prst="roundRect">
            <a:avLst>
              <a:gd name="adj" fmla="val 7143"/>
            </a:avLst>
          </a:prstGeom>
          <a:solidFill>
            <a:srgbClr val="0F3A50"/>
          </a:solidFill>
          <a:ln w="12700">
            <a:solidFill>
              <a:srgbClr val="5EC4B6"/>
            </a:solidFill>
            <a:prstDash val="solid"/>
          </a:ln>
          <a:effectLst>
            <a:outerShdw sx="100000" sy="100000" kx="0" ky="0" algn="bl" rotWithShape="0" blurRad="127000" dist="38100" dir="5400000">
              <a:srgbClr val="000000">
                <a:alpha val="25000"/>
              </a:srgbClr>
            </a:outerShdw>
          </a:effectLst>
        </p:spPr>
      </p:sp>
      <p:sp>
        <p:nvSpPr>
          <p:cNvPr id="29" name="Shape 26"/>
          <p:cNvSpPr/>
          <p:nvPr/>
        </p:nvSpPr>
        <p:spPr>
          <a:xfrm>
            <a:off x="6492240" y="1600200"/>
            <a:ext cx="1645920" cy="1005840"/>
          </a:xfrm>
          <a:prstGeom prst="roundRect">
            <a:avLst>
              <a:gd name="adj" fmla="val 10909"/>
            </a:avLst>
          </a:prstGeom>
          <a:solidFill>
            <a:srgbClr val="05141C"/>
          </a:solidFill>
          <a:ln w="12700">
            <a:solidFill>
              <a:srgbClr val="5EC4B6"/>
            </a:solidFill>
            <a:prstDash val="solid"/>
          </a:ln>
        </p:spPr>
      </p:sp>
      <p:sp>
        <p:nvSpPr>
          <p:cNvPr id="30" name="Text 27"/>
          <p:cNvSpPr txBox="1"/>
          <p:nvPr/>
        </p:nvSpPr>
        <p:spPr>
          <a:xfrm>
            <a:off x="6492240" y="1600200"/>
            <a:ext cx="1645920" cy="640080"/>
          </a:xfrm>
          <a:prstGeom prst="rect">
            <a:avLst/>
          </a:prstGeom>
          <a:noFill/>
          <a:ln/>
        </p:spPr>
        <p:txBody>
          <a:bodyPr wrap="square" lIns="0" tIns="0" rIns="0" bIns="0" rtlCol="0" anchor="ctr"/>
          <a:lstStyle/>
          <a:p>
            <a:pPr algn="ctr" indent="0" marL="0">
              <a:buNone/>
            </a:pPr>
            <a:r>
              <a:rPr lang="en-US" sz="2800" b="1" dirty="0">
                <a:solidFill>
                  <a:srgbClr val="5EC4B6"/>
                </a:solidFill>
                <a:latin typeface="Courier New" pitchFamily="34" charset="0"/>
                <a:ea typeface="Courier New" pitchFamily="34" charset="-122"/>
                <a:cs typeface="Courier New" pitchFamily="34" charset="-120"/>
              </a:rPr>
              <a:t>12 m</a:t>
            </a:r>
            <a:endParaRPr lang="en-US" sz="2800" dirty="0"/>
          </a:p>
        </p:txBody>
      </p:sp>
      <p:sp>
        <p:nvSpPr>
          <p:cNvPr id="31" name="Text 28"/>
          <p:cNvSpPr txBox="1"/>
          <p:nvPr/>
        </p:nvSpPr>
        <p:spPr>
          <a:xfrm>
            <a:off x="6492240" y="2194560"/>
            <a:ext cx="1645920" cy="320040"/>
          </a:xfrm>
          <a:prstGeom prst="rect">
            <a:avLst/>
          </a:prstGeom>
          <a:noFill/>
          <a:ln/>
        </p:spPr>
        <p:txBody>
          <a:bodyPr wrap="square" lIns="0" tIns="0" rIns="0" bIns="0" rtlCol="0" anchor="ctr"/>
          <a:lstStyle/>
          <a:p>
            <a:pPr algn="ctr" indent="0" marL="0">
              <a:buNone/>
            </a:pPr>
            <a:r>
              <a:rPr lang="en-US" sz="1200" dirty="0">
                <a:solidFill>
                  <a:srgbClr val="EDEBE6"/>
                </a:solidFill>
                <a:latin typeface="Courier New" pitchFamily="34" charset="0"/>
                <a:ea typeface="Courier New" pitchFamily="34" charset="-122"/>
                <a:cs typeface="Courier New" pitchFamily="34" charset="-120"/>
              </a:rPr>
              <a:t>6 to limit</a:t>
            </a:r>
            <a:endParaRPr lang="en-US" sz="1200" dirty="0"/>
          </a:p>
        </p:txBody>
      </p:sp>
      <p:sp>
        <p:nvSpPr>
          <p:cNvPr id="32" name="Text 29"/>
          <p:cNvSpPr txBox="1"/>
          <p:nvPr/>
        </p:nvSpPr>
        <p:spPr>
          <a:xfrm>
            <a:off x="6263640" y="3017520"/>
            <a:ext cx="2103120" cy="411480"/>
          </a:xfrm>
          <a:prstGeom prst="rect">
            <a:avLst/>
          </a:prstGeom>
          <a:noFill/>
          <a:ln/>
        </p:spPr>
        <p:txBody>
          <a:bodyPr wrap="square" lIns="0" tIns="0" rIns="0" bIns="0" rtlCol="0" anchor="ctr"/>
          <a:lstStyle/>
          <a:p>
            <a:pPr indent="0" marL="0">
              <a:buNone/>
            </a:pPr>
            <a:r>
              <a:rPr lang="en-US" sz="2200" b="1" dirty="0">
                <a:solidFill>
                  <a:srgbClr val="EDEBE6"/>
                </a:solidFill>
                <a:latin typeface="Calibri" pitchFamily="34" charset="0"/>
                <a:ea typeface="Calibri" pitchFamily="34" charset="-122"/>
                <a:cs typeface="Calibri" pitchFamily="34" charset="-120"/>
              </a:rPr>
              <a:t>Depth</a:t>
            </a:r>
            <a:endParaRPr lang="en-US" sz="2200" dirty="0"/>
          </a:p>
        </p:txBody>
      </p:sp>
      <p:sp>
        <p:nvSpPr>
          <p:cNvPr id="33" name="Text 30"/>
          <p:cNvSpPr txBox="1"/>
          <p:nvPr/>
        </p:nvSpPr>
        <p:spPr>
          <a:xfrm>
            <a:off x="6263640" y="3429000"/>
            <a:ext cx="2103120" cy="502920"/>
          </a:xfrm>
          <a:prstGeom prst="rect">
            <a:avLst/>
          </a:prstGeom>
          <a:noFill/>
          <a:ln/>
        </p:spPr>
        <p:txBody>
          <a:bodyPr wrap="square" lIns="0" tIns="0" rIns="0" bIns="0" rtlCol="0" anchor="ctr"/>
          <a:lstStyle/>
          <a:p>
            <a:pPr indent="0" marL="0">
              <a:buNone/>
            </a:pPr>
            <a:r>
              <a:rPr lang="en-US" sz="1200" dirty="0">
                <a:solidFill>
                  <a:srgbClr val="EDEBE6"/>
                </a:solidFill>
                <a:latin typeface="Calibri" pitchFamily="34" charset="0"/>
                <a:ea typeface="Calibri" pitchFamily="34" charset="-122"/>
                <a:cs typeface="Calibri" pitchFamily="34" charset="-120"/>
              </a:rPr>
              <a:t>A dive computer and a safety stop. Monospaced readouts.</a:t>
            </a:r>
            <a:endParaRPr lang="en-US" sz="1200" dirty="0"/>
          </a:p>
        </p:txBody>
      </p:sp>
      <p:sp>
        <p:nvSpPr>
          <p:cNvPr id="34" name="Text 31"/>
          <p:cNvSpPr txBox="1"/>
          <p:nvPr/>
        </p:nvSpPr>
        <p:spPr>
          <a:xfrm>
            <a:off x="548640" y="4297680"/>
            <a:ext cx="8046720" cy="502920"/>
          </a:xfrm>
          <a:prstGeom prst="rect">
            <a:avLst/>
          </a:prstGeom>
          <a:noFill/>
          <a:ln/>
        </p:spPr>
        <p:txBody>
          <a:bodyPr wrap="square" lIns="0" tIns="0" rIns="0" bIns="0" rtlCol="0" anchor="ctr"/>
          <a:lstStyle/>
          <a:p>
            <a:pPr indent="0" marL="0">
              <a:buNone/>
            </a:pPr>
            <a:r>
              <a:rPr lang="en-US" sz="1400" dirty="0">
                <a:solidFill>
                  <a:srgbClr val="F3EFE6"/>
                </a:solidFill>
                <a:latin typeface="Calibri" pitchFamily="34" charset="0"/>
                <a:ea typeface="Calibri" pitchFamily="34" charset="-122"/>
                <a:cs typeface="Calibri" pitchFamily="34" charset="-120"/>
              </a:rPr>
              <a:t>Pick a look on the Home screen. It restyles the overlay on Instagram, the 10-second break and the app itself.</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400" b="1" dirty="0">
                <a:solidFill>
                  <a:srgbClr val="F3EFE6"/>
                </a:solidFill>
                <a:latin typeface="Cambria" pitchFamily="34" charset="0"/>
                <a:ea typeface="Cambria" pitchFamily="34" charset="-122"/>
                <a:cs typeface="Cambria" pitchFamily="34" charset="-120"/>
              </a:rPr>
              <a:t>Live demo flow</a:t>
            </a:r>
            <a:endParaRPr lang="en-US" sz="3400" dirty="0"/>
          </a:p>
        </p:txBody>
      </p:sp>
      <p:sp>
        <p:nvSpPr>
          <p:cNvPr id="4" name="Shape 1"/>
          <p:cNvSpPr/>
          <p:nvPr/>
        </p:nvSpPr>
        <p:spPr>
          <a:xfrm>
            <a:off x="960120" y="1463040"/>
            <a:ext cx="731520" cy="731520"/>
          </a:xfrm>
          <a:prstGeom prst="ellipse">
            <a:avLst/>
          </a:prstGeom>
          <a:solidFill>
            <a:srgbClr val="5B8DEF"/>
          </a:solidFill>
          <a:ln w="12700">
            <a:solidFill>
              <a:srgbClr val="5B8DEF"/>
            </a:solidFill>
            <a:prstDash val="solid"/>
          </a:ln>
        </p:spPr>
      </p:sp>
      <p:sp>
        <p:nvSpPr>
          <p:cNvPr id="5" name="Text 2"/>
          <p:cNvSpPr txBox="1"/>
          <p:nvPr/>
        </p:nvSpPr>
        <p:spPr>
          <a:xfrm>
            <a:off x="960120" y="1463040"/>
            <a:ext cx="731520" cy="731520"/>
          </a:xfrm>
          <a:prstGeom prst="rect">
            <a:avLst/>
          </a:prstGeom>
          <a:noFill/>
          <a:ln/>
        </p:spPr>
        <p:txBody>
          <a:bodyPr wrap="square" lIns="0" tIns="0" rIns="0" bIns="0" rtlCol="0" anchor="ctr"/>
          <a:lstStyle/>
          <a:p>
            <a:pPr algn="ctr" indent="0" marL="0">
              <a:buNone/>
            </a:pPr>
            <a:r>
              <a:rPr lang="en-US" sz="2600" b="1" dirty="0">
                <a:solidFill>
                  <a:srgbClr val="0F1E3A"/>
                </a:solidFill>
                <a:latin typeface="Cambria" pitchFamily="34" charset="0"/>
                <a:ea typeface="Cambria" pitchFamily="34" charset="-122"/>
                <a:cs typeface="Cambria" pitchFamily="34" charset="-120"/>
              </a:rPr>
              <a:t>1</a:t>
            </a:r>
            <a:endParaRPr lang="en-US" sz="2600" dirty="0"/>
          </a:p>
        </p:txBody>
      </p:sp>
      <p:sp>
        <p:nvSpPr>
          <p:cNvPr id="6" name="Text 3"/>
          <p:cNvSpPr txBox="1"/>
          <p:nvPr/>
        </p:nvSpPr>
        <p:spPr>
          <a:xfrm>
            <a:off x="548640" y="2468880"/>
            <a:ext cx="1554480" cy="640080"/>
          </a:xfrm>
          <a:prstGeom prst="rect">
            <a:avLst/>
          </a:prstGeom>
          <a:noFill/>
          <a:ln/>
        </p:spPr>
        <p:txBody>
          <a:bodyPr wrap="square" lIns="0" tIns="0" rIns="0" bIns="0" rtlCol="0" anchor="t"/>
          <a:lstStyle/>
          <a:p>
            <a:pPr algn="ctr" indent="0" marL="0">
              <a:buNone/>
            </a:pPr>
            <a:r>
              <a:rPr lang="en-US" sz="1600" b="1" dirty="0">
                <a:solidFill>
                  <a:srgbClr val="F3EFE6"/>
                </a:solidFill>
                <a:latin typeface="Cambria" pitchFamily="34" charset="0"/>
                <a:ea typeface="Cambria" pitchFamily="34" charset="-122"/>
                <a:cs typeface="Cambria" pitchFamily="34" charset="-120"/>
              </a:rPr>
              <a:t>Set your limit</a:t>
            </a:r>
            <a:endParaRPr lang="en-US" sz="1600" dirty="0"/>
          </a:p>
        </p:txBody>
      </p:sp>
      <p:sp>
        <p:nvSpPr>
          <p:cNvPr id="7" name="Text 4"/>
          <p:cNvSpPr txBox="1"/>
          <p:nvPr/>
        </p:nvSpPr>
        <p:spPr>
          <a:xfrm>
            <a:off x="548640" y="3108960"/>
            <a:ext cx="1554480" cy="731520"/>
          </a:xfrm>
          <a:prstGeom prst="rect">
            <a:avLst/>
          </a:prstGeom>
          <a:noFill/>
          <a:ln/>
        </p:spPr>
        <p:txBody>
          <a:bodyPr wrap="square" lIns="0" tIns="0" rIns="0" bIns="0" rtlCol="0" anchor="t"/>
          <a:lstStyle/>
          <a:p>
            <a:pPr algn="ctr" indent="0" marL="0">
              <a:buNone/>
            </a:pPr>
            <a:r>
              <a:rPr lang="en-US" sz="1200" dirty="0">
                <a:solidFill>
                  <a:srgbClr val="C9CFDB"/>
                </a:solidFill>
                <a:latin typeface="Calibri" pitchFamily="34" charset="0"/>
                <a:ea typeface="Calibri" pitchFamily="34" charset="-122"/>
                <a:cs typeface="Calibri" pitchFamily="34" charset="-120"/>
              </a:rPr>
              <a:t>Slider on Home, e.g. 5 reels</a:t>
            </a:r>
            <a:endParaRPr lang="en-US" sz="1200" dirty="0"/>
          </a:p>
        </p:txBody>
      </p:sp>
      <p:sp>
        <p:nvSpPr>
          <p:cNvPr id="8" name="Shape 5"/>
          <p:cNvSpPr/>
          <p:nvPr/>
        </p:nvSpPr>
        <p:spPr>
          <a:xfrm>
            <a:off x="2606040" y="1463040"/>
            <a:ext cx="731520" cy="731520"/>
          </a:xfrm>
          <a:prstGeom prst="ellipse">
            <a:avLst/>
          </a:prstGeom>
          <a:solidFill>
            <a:srgbClr val="5B8DEF"/>
          </a:solidFill>
          <a:ln w="12700">
            <a:solidFill>
              <a:srgbClr val="5B8DEF"/>
            </a:solidFill>
            <a:prstDash val="solid"/>
          </a:ln>
        </p:spPr>
      </p:sp>
      <p:sp>
        <p:nvSpPr>
          <p:cNvPr id="9" name="Text 6"/>
          <p:cNvSpPr txBox="1"/>
          <p:nvPr/>
        </p:nvSpPr>
        <p:spPr>
          <a:xfrm>
            <a:off x="2606040" y="1463040"/>
            <a:ext cx="731520" cy="731520"/>
          </a:xfrm>
          <a:prstGeom prst="rect">
            <a:avLst/>
          </a:prstGeom>
          <a:noFill/>
          <a:ln/>
        </p:spPr>
        <p:txBody>
          <a:bodyPr wrap="square" lIns="0" tIns="0" rIns="0" bIns="0" rtlCol="0" anchor="ctr"/>
          <a:lstStyle/>
          <a:p>
            <a:pPr algn="ctr" indent="0" marL="0">
              <a:buNone/>
            </a:pPr>
            <a:r>
              <a:rPr lang="en-US" sz="2600" b="1" dirty="0">
                <a:solidFill>
                  <a:srgbClr val="0F1E3A"/>
                </a:solidFill>
                <a:latin typeface="Cambria" pitchFamily="34" charset="0"/>
                <a:ea typeface="Cambria" pitchFamily="34" charset="-122"/>
                <a:cs typeface="Cambria" pitchFamily="34" charset="-120"/>
              </a:rPr>
              <a:t>2</a:t>
            </a:r>
            <a:endParaRPr lang="en-US" sz="2600" dirty="0"/>
          </a:p>
        </p:txBody>
      </p:sp>
      <p:sp>
        <p:nvSpPr>
          <p:cNvPr id="10" name="Text 7"/>
          <p:cNvSpPr txBox="1"/>
          <p:nvPr/>
        </p:nvSpPr>
        <p:spPr>
          <a:xfrm>
            <a:off x="2194560" y="2468880"/>
            <a:ext cx="1554480" cy="640080"/>
          </a:xfrm>
          <a:prstGeom prst="rect">
            <a:avLst/>
          </a:prstGeom>
          <a:noFill/>
          <a:ln/>
        </p:spPr>
        <p:txBody>
          <a:bodyPr wrap="square" lIns="0" tIns="0" rIns="0" bIns="0" rtlCol="0" anchor="t"/>
          <a:lstStyle/>
          <a:p>
            <a:pPr algn="ctr" indent="0" marL="0">
              <a:buNone/>
            </a:pPr>
            <a:r>
              <a:rPr lang="en-US" sz="1600" b="1" dirty="0">
                <a:solidFill>
                  <a:srgbClr val="F3EFE6"/>
                </a:solidFill>
                <a:latin typeface="Cambria" pitchFamily="34" charset="0"/>
                <a:ea typeface="Cambria" pitchFamily="34" charset="-122"/>
                <a:cs typeface="Cambria" pitchFamily="34" charset="-120"/>
              </a:rPr>
              <a:t>Scroll Instagram Reels</a:t>
            </a:r>
            <a:endParaRPr lang="en-US" sz="1600" dirty="0"/>
          </a:p>
        </p:txBody>
      </p:sp>
      <p:sp>
        <p:nvSpPr>
          <p:cNvPr id="11" name="Text 8"/>
          <p:cNvSpPr txBox="1"/>
          <p:nvPr/>
        </p:nvSpPr>
        <p:spPr>
          <a:xfrm>
            <a:off x="2194560" y="3108960"/>
            <a:ext cx="1554480" cy="731520"/>
          </a:xfrm>
          <a:prstGeom prst="rect">
            <a:avLst/>
          </a:prstGeom>
          <a:noFill/>
          <a:ln/>
        </p:spPr>
        <p:txBody>
          <a:bodyPr wrap="square" lIns="0" tIns="0" rIns="0" bIns="0" rtlCol="0" anchor="t"/>
          <a:lstStyle/>
          <a:p>
            <a:pPr algn="ctr" indent="0" marL="0">
              <a:buNone/>
            </a:pPr>
            <a:r>
              <a:rPr lang="en-US" sz="1200" dirty="0">
                <a:solidFill>
                  <a:srgbClr val="C9CFDB"/>
                </a:solidFill>
                <a:latin typeface="Calibri" pitchFamily="34" charset="0"/>
                <a:ea typeface="Calibri" pitchFamily="34" charset="-122"/>
                <a:cs typeface="Calibri" pitchFamily="34" charset="-120"/>
              </a:rPr>
              <a:t>Bubble counts every reel</a:t>
            </a:r>
            <a:endParaRPr lang="en-US" sz="1200" dirty="0"/>
          </a:p>
        </p:txBody>
      </p:sp>
      <p:sp>
        <p:nvSpPr>
          <p:cNvPr id="12" name="Shape 9"/>
          <p:cNvSpPr/>
          <p:nvPr/>
        </p:nvSpPr>
        <p:spPr>
          <a:xfrm>
            <a:off x="4251960" y="1463040"/>
            <a:ext cx="731520" cy="731520"/>
          </a:xfrm>
          <a:prstGeom prst="ellipse">
            <a:avLst/>
          </a:prstGeom>
          <a:solidFill>
            <a:srgbClr val="F2C879"/>
          </a:solidFill>
          <a:ln w="12700">
            <a:solidFill>
              <a:srgbClr val="F2C879"/>
            </a:solidFill>
            <a:prstDash val="solid"/>
          </a:ln>
        </p:spPr>
      </p:sp>
      <p:sp>
        <p:nvSpPr>
          <p:cNvPr id="13" name="Text 10"/>
          <p:cNvSpPr txBox="1"/>
          <p:nvPr/>
        </p:nvSpPr>
        <p:spPr>
          <a:xfrm>
            <a:off x="4251960" y="1463040"/>
            <a:ext cx="731520" cy="731520"/>
          </a:xfrm>
          <a:prstGeom prst="rect">
            <a:avLst/>
          </a:prstGeom>
          <a:noFill/>
          <a:ln/>
        </p:spPr>
        <p:txBody>
          <a:bodyPr wrap="square" lIns="0" tIns="0" rIns="0" bIns="0" rtlCol="0" anchor="ctr"/>
          <a:lstStyle/>
          <a:p>
            <a:pPr algn="ctr" indent="0" marL="0">
              <a:buNone/>
            </a:pPr>
            <a:r>
              <a:rPr lang="en-US" sz="2600" b="1" dirty="0">
                <a:solidFill>
                  <a:srgbClr val="0F1E3A"/>
                </a:solidFill>
                <a:latin typeface="Cambria" pitchFamily="34" charset="0"/>
                <a:ea typeface="Cambria" pitchFamily="34" charset="-122"/>
                <a:cs typeface="Cambria" pitchFamily="34" charset="-120"/>
              </a:rPr>
              <a:t>3</a:t>
            </a:r>
            <a:endParaRPr lang="en-US" sz="2600" dirty="0"/>
          </a:p>
        </p:txBody>
      </p:sp>
      <p:sp>
        <p:nvSpPr>
          <p:cNvPr id="14" name="Text 11"/>
          <p:cNvSpPr txBox="1"/>
          <p:nvPr/>
        </p:nvSpPr>
        <p:spPr>
          <a:xfrm>
            <a:off x="3840480" y="2468880"/>
            <a:ext cx="1554480" cy="640080"/>
          </a:xfrm>
          <a:prstGeom prst="rect">
            <a:avLst/>
          </a:prstGeom>
          <a:noFill/>
          <a:ln/>
        </p:spPr>
        <p:txBody>
          <a:bodyPr wrap="square" lIns="0" tIns="0" rIns="0" bIns="0" rtlCol="0" anchor="t"/>
          <a:lstStyle/>
          <a:p>
            <a:pPr algn="ctr" indent="0" marL="0">
              <a:buNone/>
            </a:pPr>
            <a:r>
              <a:rPr lang="en-US" sz="1600" b="1" dirty="0">
                <a:solidFill>
                  <a:srgbClr val="F3EFE6"/>
                </a:solidFill>
                <a:latin typeface="Cambria" pitchFamily="34" charset="0"/>
                <a:ea typeface="Cambria" pitchFamily="34" charset="-122"/>
                <a:cs typeface="Cambria" pitchFamily="34" charset="-120"/>
              </a:rPr>
              <a:t>Watch it grow</a:t>
            </a:r>
            <a:endParaRPr lang="en-US" sz="1600" dirty="0"/>
          </a:p>
        </p:txBody>
      </p:sp>
      <p:sp>
        <p:nvSpPr>
          <p:cNvPr id="15" name="Text 12"/>
          <p:cNvSpPr txBox="1"/>
          <p:nvPr/>
        </p:nvSpPr>
        <p:spPr>
          <a:xfrm>
            <a:off x="3840480" y="3108960"/>
            <a:ext cx="1554480" cy="731520"/>
          </a:xfrm>
          <a:prstGeom prst="rect">
            <a:avLst/>
          </a:prstGeom>
          <a:noFill/>
          <a:ln/>
        </p:spPr>
        <p:txBody>
          <a:bodyPr wrap="square" lIns="0" tIns="0" rIns="0" bIns="0" rtlCol="0" anchor="t"/>
          <a:lstStyle/>
          <a:p>
            <a:pPr algn="ctr" indent="0" marL="0">
              <a:buNone/>
            </a:pPr>
            <a:r>
              <a:rPr lang="en-US" sz="1200" dirty="0">
                <a:solidFill>
                  <a:srgbClr val="C9CFDB"/>
                </a:solidFill>
                <a:latin typeface="Calibri" pitchFamily="34" charset="0"/>
                <a:ea typeface="Calibri" pitchFamily="34" charset="-122"/>
                <a:cs typeface="Calibri" pitchFamily="34" charset="-120"/>
              </a:rPr>
              <a:t>Blue, then amber, then red</a:t>
            </a:r>
            <a:endParaRPr lang="en-US" sz="1200" dirty="0"/>
          </a:p>
        </p:txBody>
      </p:sp>
      <p:sp>
        <p:nvSpPr>
          <p:cNvPr id="16" name="Shape 13"/>
          <p:cNvSpPr/>
          <p:nvPr/>
        </p:nvSpPr>
        <p:spPr>
          <a:xfrm>
            <a:off x="5897880" y="1463040"/>
            <a:ext cx="731520" cy="731520"/>
          </a:xfrm>
          <a:prstGeom prst="ellipse">
            <a:avLst/>
          </a:prstGeom>
          <a:solidFill>
            <a:srgbClr val="F2C879"/>
          </a:solidFill>
          <a:ln w="12700">
            <a:solidFill>
              <a:srgbClr val="F2C879"/>
            </a:solidFill>
            <a:prstDash val="solid"/>
          </a:ln>
        </p:spPr>
      </p:sp>
      <p:sp>
        <p:nvSpPr>
          <p:cNvPr id="17" name="Text 14"/>
          <p:cNvSpPr txBox="1"/>
          <p:nvPr/>
        </p:nvSpPr>
        <p:spPr>
          <a:xfrm>
            <a:off x="5897880" y="1463040"/>
            <a:ext cx="731520" cy="731520"/>
          </a:xfrm>
          <a:prstGeom prst="rect">
            <a:avLst/>
          </a:prstGeom>
          <a:noFill/>
          <a:ln/>
        </p:spPr>
        <p:txBody>
          <a:bodyPr wrap="square" lIns="0" tIns="0" rIns="0" bIns="0" rtlCol="0" anchor="ctr"/>
          <a:lstStyle/>
          <a:p>
            <a:pPr algn="ctr" indent="0" marL="0">
              <a:buNone/>
            </a:pPr>
            <a:r>
              <a:rPr lang="en-US" sz="2600" b="1" dirty="0">
                <a:solidFill>
                  <a:srgbClr val="0F1E3A"/>
                </a:solidFill>
                <a:latin typeface="Cambria" pitchFamily="34" charset="0"/>
                <a:ea typeface="Cambria" pitchFamily="34" charset="-122"/>
                <a:cs typeface="Cambria" pitchFamily="34" charset="-120"/>
              </a:rPr>
              <a:t>4</a:t>
            </a:r>
            <a:endParaRPr lang="en-US" sz="2600" dirty="0"/>
          </a:p>
        </p:txBody>
      </p:sp>
      <p:sp>
        <p:nvSpPr>
          <p:cNvPr id="18" name="Text 15"/>
          <p:cNvSpPr txBox="1"/>
          <p:nvPr/>
        </p:nvSpPr>
        <p:spPr>
          <a:xfrm>
            <a:off x="5486400" y="2468880"/>
            <a:ext cx="1554480" cy="640080"/>
          </a:xfrm>
          <a:prstGeom prst="rect">
            <a:avLst/>
          </a:prstGeom>
          <a:noFill/>
          <a:ln/>
        </p:spPr>
        <p:txBody>
          <a:bodyPr wrap="square" lIns="0" tIns="0" rIns="0" bIns="0" rtlCol="0" anchor="t"/>
          <a:lstStyle/>
          <a:p>
            <a:pPr algn="ctr" indent="0" marL="0">
              <a:buNone/>
            </a:pPr>
            <a:r>
              <a:rPr lang="en-US" sz="1600" b="1" dirty="0">
                <a:solidFill>
                  <a:srgbClr val="F3EFE6"/>
                </a:solidFill>
                <a:latin typeface="Cambria" pitchFamily="34" charset="0"/>
                <a:ea typeface="Cambria" pitchFamily="34" charset="-122"/>
                <a:cs typeface="Cambria" pitchFamily="34" charset="-120"/>
              </a:rPr>
              <a:t>10-second break</a:t>
            </a:r>
            <a:endParaRPr lang="en-US" sz="1600" dirty="0"/>
          </a:p>
        </p:txBody>
      </p:sp>
      <p:sp>
        <p:nvSpPr>
          <p:cNvPr id="19" name="Text 16"/>
          <p:cNvSpPr txBox="1"/>
          <p:nvPr/>
        </p:nvSpPr>
        <p:spPr>
          <a:xfrm>
            <a:off x="5486400" y="3108960"/>
            <a:ext cx="1554480" cy="731520"/>
          </a:xfrm>
          <a:prstGeom prst="rect">
            <a:avLst/>
          </a:prstGeom>
          <a:noFill/>
          <a:ln/>
        </p:spPr>
        <p:txBody>
          <a:bodyPr wrap="square" lIns="0" tIns="0" rIns="0" bIns="0" rtlCol="0" anchor="t"/>
          <a:lstStyle/>
          <a:p>
            <a:pPr algn="ctr" indent="0" marL="0">
              <a:buNone/>
            </a:pPr>
            <a:r>
              <a:rPr lang="en-US" sz="1200" dirty="0">
                <a:solidFill>
                  <a:srgbClr val="C9CFDB"/>
                </a:solidFill>
                <a:latin typeface="Calibri" pitchFamily="34" charset="0"/>
                <a:ea typeface="Calibri" pitchFamily="34" charset="-122"/>
                <a:cs typeface="Calibri" pitchFamily="34" charset="-120"/>
              </a:rPr>
              <a:t>At limit + 10, with a quote</a:t>
            </a:r>
            <a:endParaRPr lang="en-US" sz="1200" dirty="0"/>
          </a:p>
        </p:txBody>
      </p:sp>
      <p:sp>
        <p:nvSpPr>
          <p:cNvPr id="20" name="Shape 17"/>
          <p:cNvSpPr/>
          <p:nvPr/>
        </p:nvSpPr>
        <p:spPr>
          <a:xfrm>
            <a:off x="7543800" y="1463040"/>
            <a:ext cx="731520" cy="731520"/>
          </a:xfrm>
          <a:prstGeom prst="ellipse">
            <a:avLst/>
          </a:prstGeom>
          <a:solidFill>
            <a:srgbClr val="FF8F78"/>
          </a:solidFill>
          <a:ln w="12700">
            <a:solidFill>
              <a:srgbClr val="FF8F78"/>
            </a:solidFill>
            <a:prstDash val="solid"/>
          </a:ln>
        </p:spPr>
      </p:sp>
      <p:sp>
        <p:nvSpPr>
          <p:cNvPr id="21" name="Text 18"/>
          <p:cNvSpPr txBox="1"/>
          <p:nvPr/>
        </p:nvSpPr>
        <p:spPr>
          <a:xfrm>
            <a:off x="7543800" y="1463040"/>
            <a:ext cx="731520" cy="731520"/>
          </a:xfrm>
          <a:prstGeom prst="rect">
            <a:avLst/>
          </a:prstGeom>
          <a:noFill/>
          <a:ln/>
        </p:spPr>
        <p:txBody>
          <a:bodyPr wrap="square" lIns="0" tIns="0" rIns="0" bIns="0" rtlCol="0" anchor="ctr"/>
          <a:lstStyle/>
          <a:p>
            <a:pPr algn="ctr" indent="0" marL="0">
              <a:buNone/>
            </a:pPr>
            <a:r>
              <a:rPr lang="en-US" sz="2600" b="1" dirty="0">
                <a:solidFill>
                  <a:srgbClr val="0F1E3A"/>
                </a:solidFill>
                <a:latin typeface="Cambria" pitchFamily="34" charset="0"/>
                <a:ea typeface="Cambria" pitchFamily="34" charset="-122"/>
                <a:cs typeface="Cambria" pitchFamily="34" charset="-120"/>
              </a:rPr>
              <a:t>5</a:t>
            </a:r>
            <a:endParaRPr lang="en-US" sz="2600" dirty="0"/>
          </a:p>
        </p:txBody>
      </p:sp>
      <p:sp>
        <p:nvSpPr>
          <p:cNvPr id="22" name="Text 19"/>
          <p:cNvSpPr txBox="1"/>
          <p:nvPr/>
        </p:nvSpPr>
        <p:spPr>
          <a:xfrm>
            <a:off x="7132320" y="2468880"/>
            <a:ext cx="1554480" cy="640080"/>
          </a:xfrm>
          <a:prstGeom prst="rect">
            <a:avLst/>
          </a:prstGeom>
          <a:noFill/>
          <a:ln/>
        </p:spPr>
        <p:txBody>
          <a:bodyPr wrap="square" lIns="0" tIns="0" rIns="0" bIns="0" rtlCol="0" anchor="t"/>
          <a:lstStyle/>
          <a:p>
            <a:pPr algn="ctr" indent="0" marL="0">
              <a:buNone/>
            </a:pPr>
            <a:r>
              <a:rPr lang="en-US" sz="1600" b="1" dirty="0">
                <a:solidFill>
                  <a:srgbClr val="F3EFE6"/>
                </a:solidFill>
                <a:latin typeface="Cambria" pitchFamily="34" charset="0"/>
                <a:ea typeface="Cambria" pitchFamily="34" charset="-122"/>
                <a:cs typeface="Cambria" pitchFamily="34" charset="-120"/>
              </a:rPr>
              <a:t>Back to Instagram</a:t>
            </a:r>
            <a:endParaRPr lang="en-US" sz="1600" dirty="0"/>
          </a:p>
        </p:txBody>
      </p:sp>
      <p:sp>
        <p:nvSpPr>
          <p:cNvPr id="23" name="Text 20"/>
          <p:cNvSpPr txBox="1"/>
          <p:nvPr/>
        </p:nvSpPr>
        <p:spPr>
          <a:xfrm>
            <a:off x="7132320" y="3108960"/>
            <a:ext cx="1554480" cy="731520"/>
          </a:xfrm>
          <a:prstGeom prst="rect">
            <a:avLst/>
          </a:prstGeom>
          <a:noFill/>
          <a:ln/>
        </p:spPr>
        <p:txBody>
          <a:bodyPr wrap="square" lIns="0" tIns="0" rIns="0" bIns="0" rtlCol="0" anchor="t"/>
          <a:lstStyle/>
          <a:p>
            <a:pPr algn="ctr" indent="0" marL="0">
              <a:buNone/>
            </a:pPr>
            <a:r>
              <a:rPr lang="en-US" sz="1200" dirty="0">
                <a:solidFill>
                  <a:srgbClr val="C9CFDB"/>
                </a:solidFill>
                <a:latin typeface="Calibri" pitchFamily="34" charset="0"/>
                <a:ea typeface="Calibri" pitchFamily="34" charset="-122"/>
                <a:cs typeface="Calibri" pitchFamily="34" charset="-120"/>
              </a:rPr>
              <a:t>Count resets to 0</a:t>
            </a:r>
            <a:endParaRPr lang="en-US" sz="1200" dirty="0"/>
          </a:p>
        </p:txBody>
      </p:sp>
      <p:sp>
        <p:nvSpPr>
          <p:cNvPr id="24" name="Text 21"/>
          <p:cNvSpPr txBox="1"/>
          <p:nvPr/>
        </p:nvSpPr>
        <p:spPr>
          <a:xfrm>
            <a:off x="548640" y="4206240"/>
            <a:ext cx="8046720" cy="457200"/>
          </a:xfrm>
          <a:prstGeom prst="rect">
            <a:avLst/>
          </a:prstGeom>
          <a:noFill/>
          <a:ln/>
        </p:spPr>
        <p:txBody>
          <a:bodyPr wrap="square" lIns="0" tIns="0" rIns="0" bIns="0" rtlCol="0" anchor="ctr"/>
          <a:lstStyle/>
          <a:p>
            <a:pPr indent="0" marL="0">
              <a:buNone/>
            </a:pPr>
            <a:r>
              <a:rPr lang="en-US" sz="1400" dirty="0">
                <a:solidFill>
                  <a:srgbClr val="F3EFE6"/>
                </a:solidFill>
                <a:latin typeface="Calibri" pitchFamily="34" charset="0"/>
                <a:ea typeface="Calibri" pitchFamily="34" charset="-122"/>
                <a:cs typeface="Calibri" pitchFamily="34" charset="-120"/>
              </a:rPr>
              <a:t>Then tap another look on Home (Bubble, Reel, Depth) and repeat to show the restyle.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DoomGuard</dc:title>
  <dc:subject>PptxGenJS Presentation</dc:subject>
  <dc:creator>Ysquare Technology</dc:creator>
  <cp:lastModifiedBy>Ysquare Technology</cp:lastModifiedBy>
  <cp:revision>1</cp:revision>
  <dcterms:created xsi:type="dcterms:W3CDTF">2026-10-24T09:45:35Z</dcterms:created>
  <dcterms:modified xsi:type="dcterms:W3CDTF">2026-10-24T09:45:35Z</dcterms:modified>
</cp:coreProperties>
</file>